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3ea3c0-e372-46f1-1807-73f3c0156b44}">
          <p14:sldIdLst>
            <p14:sldId id="256"/>
            <p14:sldId id="257"/>
            <p14:sldId id="258"/>
          </p14:sldIdLst>
        </p14:section>
        <p14:section name="The idea" id="{f83ff0f6-7fe3-dd2b-71ae-a664e9b278f4}">
          <p14:sldIdLst>
            <p14:sldId id="259"/>
            <p14:sldId id="260"/>
          </p14:sldIdLst>
        </p14:section>
        <p14:section name="How it works" id="{0d561f37-40de-f22c-ee2a-fa6c2e03b3d0}">
          <p14:sldIdLst>
            <p14:sldId id="261"/>
            <p14:sldId id="262"/>
          </p14:sldIdLst>
        </p14:section>
        <p14:section name="Results" id="{6823a45d-8e4d-bc8d-47e3-9f5c0fecd5cf}">
          <p14:sldIdLst>
            <p14:sldId id="263"/>
            <p14:sldId id="264"/>
            <p14:sldId id="265"/>
          </p14:sldIdLst>
        </p14:section>
        <p14:section name="Wrap-up" id="{b7b6fc5e-f06f-5409-6f27-bd35063b0935}">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Cars per hour in the corridor</a:t>
            </a:r>
          </a:p>
        </c:rich>
      </c:tx>
      <c:layout/>
      <c:overlay val="0"/>
    </c:title>
    <c:autoTitleDeleted val="0"/>
    <c:plotArea>
      <c:layout/>
      <c:barChart>
        <c:barDir val="col"/>
        <c:grouping val="clustered"/>
        <c:varyColors val="0"/>
        <c:ser>
          <c:idx val="0"/>
          <c:order val="0"/>
          <c:tx>
            <c:strRef>
              <c:f>Sheet1!$B$1</c:f>
              <c:strCache>
                <c:ptCount val="1"/>
                <c:pt idx="0">
                  <c:v>Cars per hour (thousands)</c:v>
                </c:pt>
              </c:strCache>
            </c:strRef>
          </c:tx>
          <c:spPr>
            <a:solidFill>
              <a:srgbClr val="8A94A6"/>
            </a:solidFill>
            <a:effectLst/>
          </c:spPr>
          <c:invertIfNegative val="0"/>
          <c:dLbls>
            <c:numFmt formatCode="0.0&quot;k&quot;" sourceLinked="0"/>
            <c:txPr>
              <a:bodyPr/>
              <a:lstStyle/>
              <a:p>
                <a:pPr>
                  <a:defRPr b="0" i="0" strike="noStrike" sz="16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1F7A8C"/>
              </a:solidFill>
              <a:effectLst/>
            </c:spPr>
          </c:dPt>
          <c:cat>
            <c:multiLvlStrRef>
              <c:f>Sheet1!$A$2:$A$3</c:f>
              <c:multiLvlStrCache>
                <c:ptCount val="2"/>
                <c:lvl>
                  <c:pt idx="0">
                    <c:v>First guess</c:v>
                  </c:pt>
                  <c:pt idx="1">
                    <c:v>After the counts</c:v>
                  </c:pt>
                </c:lvl>
              </c:multiLvlStrCache>
            </c:multiLvlStrRef>
          </c:cat>
          <c:val>
            <c:numRef>
              <c:f>Sheet1!$B$2:$B$3</c:f>
              <c:numCache>
                <c:formatCode>General</c:formatCode>
                <c:ptCount val="2"/>
                <c:pt idx="0">
                  <c:v>117.9</c:v>
                </c:pt>
                <c:pt idx="1">
                  <c:v>61.6</c:v>
                </c:pt>
              </c:numCache>
            </c:numRef>
          </c:val>
        </c:ser>
        <c:dLbls>
          <c:numFmt formatCode="0.0&quot;k&quot;" sourceLinked="0"/>
          <c:txPr>
            <a:bodyPr/>
            <a:lstStyle/>
            <a:p>
              <a:pPr>
                <a:defRPr b="0" i="0" strike="noStrike" sz="16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Average error on hidden counters (lower is better)</a:t>
            </a:r>
          </a:p>
        </c:rich>
      </c:tx>
      <c:layout/>
      <c:overlay val="0"/>
    </c:title>
    <c:autoTitleDeleted val="0"/>
    <c:plotArea>
      <c:layout/>
      <c:barChart>
        <c:barDir val="col"/>
        <c:grouping val="clustered"/>
        <c:varyColors val="0"/>
        <c:ser>
          <c:idx val="0"/>
          <c:order val="0"/>
          <c:tx>
            <c:strRef>
              <c:f>Sheet1!$B$1</c:f>
              <c:strCache>
                <c:ptCount val="1"/>
                <c:pt idx="0">
                  <c:v>Average error (GEH) on hidden counters</c:v>
                </c:pt>
              </c:strCache>
            </c:strRef>
          </c:tx>
          <c:spPr>
            <a:solidFill>
              <a:srgbClr val="8A94A6"/>
            </a:solidFill>
            <a:effectLst/>
          </c:spPr>
          <c:invertIfNegative val="0"/>
          <c:dLbls>
            <c:numFmt formatCode="0.0" sourceLinked="0"/>
            <c:txPr>
              <a:bodyPr/>
              <a:lstStyle/>
              <a:p>
                <a:pPr>
                  <a:defRPr b="0" i="0" strike="noStrike" sz="15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E8963D"/>
              </a:solidFill>
              <a:effectLst/>
            </c:spPr>
          </c:dPt>
          <c:dPt>
            <c:idx val="2"/>
            <c:invertIfNegative val="0"/>
            <c:bubble3D val="0"/>
            <c:spPr>
              <a:solidFill>
                <a:srgbClr val="2E9E6B"/>
              </a:solidFill>
              <a:effectLst/>
            </c:spPr>
          </c:dPt>
          <c:cat>
            <c:multiLvlStrRef>
              <c:f>Sheet1!$A$2:$A$4</c:f>
              <c:multiLvlStrCache>
                <c:ptCount val="3"/>
                <c:lvl>
                  <c:pt idx="0">
                    <c:v>First version</c:v>
                  </c:pt>
                  <c:pt idx="1">
                    <c:v>After fixes</c:v>
                  </c:pt>
                  <c:pt idx="2">
                    <c:v>Now</c:v>
                  </c:pt>
                </c:lvl>
              </c:multiLvlStrCache>
            </c:multiLvlStrRef>
          </c:cat>
          <c:val>
            <c:numRef>
              <c:f>Sheet1!$B$2:$B$4</c:f>
              <c:numCache>
                <c:formatCode>General</c:formatCode>
                <c:ptCount val="3"/>
                <c:pt idx="0">
                  <c:v>35.6</c:v>
                </c:pt>
                <c:pt idx="1">
                  <c:v>23.8</c:v>
                </c:pt>
                <c:pt idx="2">
                  <c:v>23.2</c:v>
                </c:pt>
              </c:numCache>
            </c:numRef>
          </c:val>
        </c:ser>
        <c:dLbls>
          <c:numFmt formatCode="0.0" sourceLinked="0"/>
          <c:txPr>
            <a:bodyPr/>
            <a:lstStyle/>
            <a:p>
              <a:pPr>
                <a:defRPr b="0" i="0" strike="noStrike" sz="1500" u="none">
                  <a:solidFill>
                    <a:srgbClr val="14213D"/>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Cars that reached their destination in 20 minutes</a:t>
            </a:r>
          </a:p>
        </c:rich>
      </c:tx>
      <c:layout/>
      <c:overlay val="0"/>
    </c:title>
    <c:autoTitleDeleted val="0"/>
    <c:plotArea>
      <c:layout/>
      <c:barChart>
        <c:barDir val="col"/>
        <c:grouping val="clustered"/>
        <c:varyColors val="0"/>
        <c:ser>
          <c:idx val="0"/>
          <c:order val="0"/>
          <c:tx>
            <c:strRef>
              <c:f>Sheet1!$B$1</c:f>
              <c:strCache>
                <c:ptCount val="1"/>
                <c:pt idx="0">
                  <c:v>Cars that reached their destination in 20 minutes</c:v>
                </c:pt>
              </c:strCache>
            </c:strRef>
          </c:tx>
          <c:spPr>
            <a:solidFill>
              <a:srgbClr val="8A94A6"/>
            </a:solidFill>
            <a:effectLst/>
          </c:spPr>
          <c:invertIfNegative val="0"/>
          <c:dLbls>
            <c:numFmt formatCode="#,##0" sourceLinked="0"/>
            <c:txPr>
              <a:bodyPr/>
              <a:lstStyle/>
              <a:p>
                <a:pPr>
                  <a:defRPr b="0" i="0" strike="noStrike" sz="15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D9534F"/>
              </a:solidFill>
              <a:effectLst/>
            </c:spPr>
          </c:dPt>
          <c:dPt>
            <c:idx val="2"/>
            <c:invertIfNegative val="0"/>
            <c:bubble3D val="0"/>
            <c:spPr>
              <a:solidFill>
                <a:srgbClr val="2E9E6B"/>
              </a:solidFill>
              <a:effectLst/>
            </c:spPr>
          </c:dPt>
          <c:cat>
            <c:multiLvlStrRef>
              <c:f>Sheet1!$A$2:$A$4</c:f>
              <c:multiLvlStrCache>
                <c:ptCount val="3"/>
                <c:lvl>
                  <c:pt idx="0">
                    <c:v>Road open</c:v>
                  </c:pt>
                  <c:pt idx="1">
                    <c:v>Not told</c:v>
                  </c:pt>
                  <c:pt idx="2">
                    <c:v>Warned at once</c:v>
                  </c:pt>
                </c:lvl>
              </c:multiLvlStrCache>
            </c:multiLvlStrRef>
          </c:cat>
          <c:val>
            <c:numRef>
              <c:f>Sheet1!$B$2:$B$4</c:f>
              <c:numCache>
                <c:formatCode>General</c:formatCode>
                <c:ptCount val="3"/>
                <c:pt idx="0">
                  <c:v>10233</c:v>
                </c:pt>
                <c:pt idx="1">
                  <c:v>9655</c:v>
                </c:pt>
                <c:pt idx="2">
                  <c:v>10390</c:v>
                </c:pt>
              </c:numCache>
            </c:numRef>
          </c:val>
        </c:ser>
        <c:dLbls>
          <c:numFmt formatCode="#,##0" sourceLinked="0"/>
          <c:txPr>
            <a:bodyPr/>
            <a:lstStyle/>
            <a:p>
              <a:pPr>
                <a:defRPr b="0" i="0" strike="noStrike" sz="1500" u="none">
                  <a:solidFill>
                    <a:srgbClr val="14213D"/>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 will show you a project about traffic in Istanbul. The short version: we only measure how fast cars move on the roads, and from that we try to work out how many people travel from where to where. I will keep it simple, and at the end you can open the project on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simple: how many cars go from each area to each other area, every hour. This table is called an O-D matrix: O for origin, D for destination. Planners need it, accident response needs it, and every traffic simulator needs it. The problem: no sensor measures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have. Speeds: about one thousand road pieces, live. Counts of actual cars: only 23 places. And the Istanbulkart taps at 31 metro and Metrobüs stops. So we know speeds almost everywhere, but car numbers almost nowhere. Everything here is open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Look at roads A and B: both at 80 km per hour. One has three cars, the other has many. The speed cannot tell them apart. Road C is slow, so there is a queue: more cars want to pass than the road can carry. So a fast road gives us 'at most', a jammed road gives us 'at least'. Most methods turn speed into an exact count. We do not, because that would be making up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three steps. First, measure: speeds, counts, card taps. Second, work backwards: which trips would create this traffic? And for every number we also say how sure we are. Third, check honestly and then simulate. It is a bit like a detective: we do not see the trips, only their footprints.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the city itself. We built a 3D copy of the corridor from OpenStreetMap: about 38 thousand buildings and 1,170 kilometres of roads. It runs in a normal web browser, and the roads are coloured with the live speeds from İBB. Behind it there is a real traffic simulator called SUMO.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We split the corridor into 95 areas: 75 hexagons inside and 20 gates where big roads like the bridge cross the edge. That gives 9,025 possible area-to-area trips: many more unknowns than we have measurements. So we start with a first guess from buildings and shops, and let the data correct it. For every number we also say how much came from data and how much from the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result. Our first guess, built only from buildings, said about 118 thousand cars per hour. The real counts brought it down to about 62 thousand: the first guess was roughly three times too high in its overall level. That explains why our first simulation locked up completely. Now the total comes from measurements, and 81 percent of it is backed by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if the model is good? We do not grade it on the numbers it already saw. We hide one counter, build the model without it, and ask it to predict that counter. Like an exam you have not seen. The score is called GEH; below 5 is good. Our error went down from about 36 to 23. But honestly, the target is not reached yet: the total is right, but where exactly the cars go is still weak. We say that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practical use. Imagine a five-lane part of the TEM motorway closes. We take a snapshot of all traffic and play three futures from it: the road stays open, drivers are not told, or drivers are warned at once. Warning drivers at once gets 735 more cars to their destination in 20 minutes. And the computer answered in about 9 minutes, so the decision is ready before the problem grows. One honest note: part of the gain comes from drivers re-planning their route more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honestly. What works: the 3D city with live speeds, the total traffic level from real counts, honest checks, the what-if simulator, and a recommendations panel on real data. What does not work yet: predicting where exactly the cars go; some counters may count only one direction, which İBB needs to confirm; we have only one hour of one day; and a fast AI version did not pass our own quality check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try it now. The left code opens the live 3D twin; it works best on a laptop. The right code opens the project site, with a simple explanation of every term, the full technical report and these slides. Everything is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If you remember one thing: a speed tells you 'at most' or 'at least', never an exact number of cars. Using it honestly is the whole idea.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8A94A6"/>
                </a:solidFill>
              </a:rPr>
              <a:t>Procedural Istanbul</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chart" Target="/ppt/charts/chart3.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C:\Users\arif.asiroglu\Traffic_Intelligence\procedural-istanbul\docs\media\hero.jpg">    </p:cNvPr>
          <p:cNvPicPr>
            <a:picLocks noChangeAspect="1"/>
          </p:cNvPicPr>
          <p:nvPr/>
        </p:nvPicPr>
        <p:blipFill>
          <a:blip r:embed="rId1">
            <a:alphaModFix amt="45000"/>
          </a:blip>
          <a:srcRect l="0" r="0" t="0" b="0"/>
          <a:stretch/>
        </p:blipFill>
        <p:spPr>
          <a:xfrm>
            <a:off x="0" y="0"/>
            <a:ext cx="12191695" cy="6858000"/>
          </a:xfrm>
          <a:prstGeom prst="rect">
            <a:avLst/>
          </a:prstGeom>
        </p:spPr>
      </p:pic>
      <p:sp>
        <p:nvSpPr>
          <p:cNvPr id="3" name="shade"/>
          <p:cNvSpPr/>
          <p:nvPr/>
        </p:nvSpPr>
        <p:spPr>
          <a:xfrm>
            <a:off x="0" y="0"/>
            <a:ext cx="12191695" cy="6858000"/>
          </a:xfrm>
          <a:prstGeom prst="rect">
            <a:avLst/>
          </a:prstGeom>
          <a:solidFill>
            <a:srgbClr val="14213D">
              <a:alpha val="75000"/>
            </a:srgbClr>
          </a:solidFill>
          <a:ln w="12700">
            <a:solidFill>
              <a:srgbClr val="14213D">
                <a:alpha val="0"/>
              </a:srgbClr>
            </a:solidFill>
            <a:prstDash val="solid"/>
          </a:ln>
        </p:spPr>
      </p:sp>
      <p:sp>
        <p:nvSpPr>
          <p:cNvPr id="4" name="Text 1"/>
          <p:cNvSpPr txBox="1"/>
          <p:nvPr/>
        </p:nvSpPr>
        <p:spPr>
          <a:xfrm>
            <a:off x="548640" y="1554480"/>
            <a:ext cx="8229600" cy="457200"/>
          </a:xfrm>
          <a:prstGeom prst="rect">
            <a:avLst/>
          </a:prstGeom>
          <a:noFill/>
          <a:ln/>
        </p:spPr>
        <p:txBody>
          <a:bodyPr wrap="square" lIns="0" tIns="0" rIns="0" bIns="0" rtlCol="0" anchor="ctr"/>
          <a:lstStyle/>
          <a:p>
            <a:pPr indent="0" marL="0">
              <a:buNone/>
            </a:pPr>
            <a:r>
              <a:rPr lang="en-US" sz="1600" b="1" spc="400" kern="0" dirty="0">
                <a:solidFill>
                  <a:srgbClr val="E8963D"/>
                </a:solidFill>
              </a:rPr>
              <a:t>PROCEDURAL ISTANBUL</a:t>
            </a:r>
            <a:endParaRPr lang="en-US" sz="1600" dirty="0"/>
          </a:p>
        </p:txBody>
      </p:sp>
      <p:sp>
        <p:nvSpPr>
          <p:cNvPr id="5" name="Text 2"/>
          <p:cNvSpPr txBox="1"/>
          <p:nvPr/>
        </p:nvSpPr>
        <p:spPr>
          <a:xfrm>
            <a:off x="548640" y="2011680"/>
            <a:ext cx="9601200" cy="1645920"/>
          </a:xfrm>
          <a:prstGeom prst="rect">
            <a:avLst/>
          </a:prstGeom>
          <a:noFill/>
          <a:ln/>
        </p:spPr>
        <p:txBody>
          <a:bodyPr wrap="square" lIns="0" tIns="0" rIns="0" bIns="0" rtlCol="0" anchor="t"/>
          <a:lstStyle/>
          <a:p>
            <a:pPr indent="0" marL="0">
              <a:buNone/>
            </a:pPr>
            <a:r>
              <a:rPr lang="en-US" sz="4800" b="1" dirty="0">
                <a:solidFill>
                  <a:srgbClr val="FFFFFF"/>
                </a:solidFill>
              </a:rPr>
              <a:t>Reading a city's traffic from road speeds</a:t>
            </a:r>
            <a:endParaRPr lang="en-US" sz="4800" dirty="0"/>
          </a:p>
        </p:txBody>
      </p:sp>
      <p:sp>
        <p:nvSpPr>
          <p:cNvPr id="6" name="Text 3"/>
          <p:cNvSpPr txBox="1"/>
          <p:nvPr/>
        </p:nvSpPr>
        <p:spPr>
          <a:xfrm>
            <a:off x="548640" y="3749040"/>
            <a:ext cx="9144000" cy="548640"/>
          </a:xfrm>
          <a:prstGeom prst="rect">
            <a:avLst/>
          </a:prstGeom>
          <a:noFill/>
          <a:ln/>
        </p:spPr>
        <p:txBody>
          <a:bodyPr wrap="square" lIns="0" tIns="0" rIns="0" bIns="0" rtlCol="0" anchor="ctr"/>
          <a:lstStyle/>
          <a:p>
            <a:pPr indent="0" marL="0">
              <a:buNone/>
            </a:pPr>
            <a:r>
              <a:rPr lang="en-US" sz="2200" dirty="0">
                <a:solidFill>
                  <a:srgbClr val="D6E2F0"/>
                </a:solidFill>
              </a:rPr>
              <a:t>An open digital twin of Istanbul's Maslak – 15 July Bridge corridor</a:t>
            </a:r>
            <a:endParaRPr lang="en-US" sz="2200" dirty="0"/>
          </a:p>
        </p:txBody>
      </p:sp>
      <p:sp>
        <p:nvSpPr>
          <p:cNvPr id="7" name="Text 4"/>
          <p:cNvSpPr txBox="1"/>
          <p:nvPr/>
        </p:nvSpPr>
        <p:spPr>
          <a:xfrm>
            <a:off x="548640" y="5212080"/>
            <a:ext cx="8229600" cy="822960"/>
          </a:xfrm>
          <a:prstGeom prst="rect">
            <a:avLst/>
          </a:prstGeom>
          <a:noFill/>
          <a:ln/>
        </p:spPr>
        <p:txBody>
          <a:bodyPr wrap="square" lIns="0" tIns="0" rIns="0" bIns="0" rtlCol="0" anchor="ctr"/>
          <a:lstStyle/>
          <a:p>
            <a:pPr indent="0" marL="0">
              <a:buNone/>
            </a:pPr>
            <a:r>
              <a:rPr lang="en-US" sz="1600" b="1" dirty="0">
                <a:solidFill>
                  <a:srgbClr val="D6E2F0"/>
                </a:solidFill>
              </a:rPr>
              <a:t>Abdurrahim Arif Aşıroğlu</a:t>
            </a:r>
            <a:endParaRPr lang="en-US" sz="1600" dirty="0"/>
          </a:p>
          <a:p>
            <a:pPr indent="0" marL="0">
              <a:buNone/>
            </a:pPr>
            <a:r>
              <a:rPr lang="en-US" sz="1600" dirty="0">
                <a:solidFill>
                  <a:srgbClr val="D6E2F0"/>
                </a:solidFill>
              </a:rPr>
              <a:t>October 2026 · aaasiroglu.github.io/procedural-istanbul</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The big question</a:t>
            </a:r>
            <a:endParaRPr lang="en-US" sz="3400" dirty="0"/>
          </a:p>
        </p:txBody>
      </p:sp>
      <p:sp>
        <p:nvSpPr>
          <p:cNvPr id="3" name="Text 1"/>
          <p:cNvSpPr txBox="1"/>
          <p:nvPr/>
        </p:nvSpPr>
        <p:spPr>
          <a:xfrm>
            <a:off x="548640" y="1463040"/>
            <a:ext cx="6766560" cy="2011680"/>
          </a:xfrm>
          <a:prstGeom prst="rect">
            <a:avLst/>
          </a:prstGeom>
          <a:noFill/>
          <a:ln/>
        </p:spPr>
        <p:txBody>
          <a:bodyPr wrap="square" lIns="0" tIns="0" rIns="0" bIns="0" rtlCol="0" anchor="t"/>
          <a:lstStyle/>
          <a:p>
            <a:pPr indent="0" marL="0">
              <a:buNone/>
            </a:pPr>
            <a:r>
              <a:rPr lang="en-US" sz="3600" b="1" dirty="0">
                <a:solidFill>
                  <a:schemeClr val="tx2"/>
                </a:solidFill>
              </a:rPr>
              <a:t>How many cars travel from where to where, every hour?</a:t>
            </a:r>
            <a:endParaRPr lang="en-US" sz="3600" dirty="0"/>
          </a:p>
        </p:txBody>
      </p:sp>
      <p:sp>
        <p:nvSpPr>
          <p:cNvPr id="4" name="Text 2"/>
          <p:cNvSpPr txBox="1"/>
          <p:nvPr/>
        </p:nvSpPr>
        <p:spPr>
          <a:xfrm>
            <a:off x="548640" y="3566160"/>
            <a:ext cx="6400800" cy="1280160"/>
          </a:xfrm>
          <a:prstGeom prst="rect">
            <a:avLst/>
          </a:prstGeom>
          <a:noFill/>
          <a:ln/>
        </p:spPr>
        <p:txBody>
          <a:bodyPr wrap="square" lIns="0" tIns="0" rIns="0" bIns="0" rtlCol="0" anchor="t"/>
          <a:lstStyle/>
          <a:p>
            <a:pPr indent="0" marL="0">
              <a:buNone/>
            </a:pPr>
            <a:r>
              <a:rPr lang="en-US" sz="1800" dirty="0">
                <a:solidFill>
                  <a:schemeClr val="tx1"/>
                </a:solidFill>
              </a:rPr>
              <a:t>Traffic engineers call this table an origin–destination (O-D) matrix. Every simulator, every new road plan and every response to an accident starts from it.</a:t>
            </a:r>
            <a:endParaRPr lang="en-US" sz="1800" dirty="0"/>
          </a:p>
        </p:txBody>
      </p:sp>
      <p:sp>
        <p:nvSpPr>
          <p:cNvPr id="5" name="card"/>
          <p:cNvSpPr/>
          <p:nvPr/>
        </p:nvSpPr>
        <p:spPr>
          <a:xfrm>
            <a:off x="7772400" y="1463040"/>
            <a:ext cx="3840480" cy="1234440"/>
          </a:xfrm>
          <a:prstGeom prst="roundRect">
            <a:avLst>
              <a:gd name="adj" fmla="val 11111"/>
            </a:avLst>
          </a:prstGeom>
          <a:solidFill>
            <a:schemeClr val="bg2"/>
          </a:solidFill>
          <a:ln w="12700">
            <a:solidFill>
              <a:schemeClr val="bg2"/>
            </a:solidFill>
            <a:prstDash val="solid"/>
          </a:ln>
        </p:spPr>
      </p:sp>
      <p:sp>
        <p:nvSpPr>
          <p:cNvPr id="6" name="icon-circle"/>
          <p:cNvSpPr/>
          <p:nvPr/>
        </p:nvSpPr>
        <p:spPr>
          <a:xfrm>
            <a:off x="7955280" y="1737360"/>
            <a:ext cx="685800" cy="685800"/>
          </a:xfrm>
          <a:prstGeom prst="ellipse">
            <a:avLst/>
          </a:prstGeom>
          <a:solidFill>
            <a:srgbClr val="1F7A8C"/>
          </a:solidFill>
          <a:ln w="12700">
            <a:solidFill>
              <a:srgbClr val="1F7A8C"/>
            </a:solidFill>
            <a:prstDash val="solid"/>
          </a:ln>
        </p:spPr>
      </p:sp>
      <p:pic>
        <p:nvPicPr>
          <p:cNvPr id="7" name="icon" descr="preencoded.png">    </p:cNvPr>
          <p:cNvPicPr>
            <a:picLocks noChangeAspect="1"/>
          </p:cNvPicPr>
          <p:nvPr/>
        </p:nvPicPr>
        <p:blipFill>
          <a:blip r:embed="rId1"/>
          <a:stretch>
            <a:fillRect/>
          </a:stretch>
        </p:blipFill>
        <p:spPr>
          <a:xfrm>
            <a:off x="8126730" y="1908810"/>
            <a:ext cx="342900" cy="342900"/>
          </a:xfrm>
          <a:prstGeom prst="rect">
            <a:avLst/>
          </a:prstGeom>
        </p:spPr>
      </p:pic>
      <p:sp>
        <p:nvSpPr>
          <p:cNvPr id="8" name="Text 5"/>
          <p:cNvSpPr txBox="1"/>
          <p:nvPr/>
        </p:nvSpPr>
        <p:spPr>
          <a:xfrm>
            <a:off x="8823960" y="1600200"/>
            <a:ext cx="2651760" cy="411480"/>
          </a:xfrm>
          <a:prstGeom prst="rect">
            <a:avLst/>
          </a:prstGeom>
          <a:noFill/>
          <a:ln/>
        </p:spPr>
        <p:txBody>
          <a:bodyPr wrap="square" lIns="0" tIns="0" rIns="0" bIns="0" rtlCol="0" anchor="ctr"/>
          <a:lstStyle/>
          <a:p>
            <a:pPr indent="0" marL="0">
              <a:buNone/>
            </a:pPr>
            <a:r>
              <a:rPr lang="en-US" sz="1800" b="1" dirty="0">
                <a:solidFill>
                  <a:schemeClr val="tx1"/>
                </a:solidFill>
              </a:rPr>
              <a:t>Planning</a:t>
            </a:r>
            <a:endParaRPr lang="en-US" sz="1800" dirty="0"/>
          </a:p>
        </p:txBody>
      </p:sp>
      <p:sp>
        <p:nvSpPr>
          <p:cNvPr id="9" name="Text 6"/>
          <p:cNvSpPr txBox="1"/>
          <p:nvPr/>
        </p:nvSpPr>
        <p:spPr>
          <a:xfrm>
            <a:off x="8823960" y="1993392"/>
            <a:ext cx="2697480" cy="640080"/>
          </a:xfrm>
          <a:prstGeom prst="rect">
            <a:avLst/>
          </a:prstGeom>
          <a:noFill/>
          <a:ln/>
        </p:spPr>
        <p:txBody>
          <a:bodyPr wrap="square" lIns="0" tIns="0" rIns="0" bIns="0" rtlCol="0" anchor="t"/>
          <a:lstStyle/>
          <a:p>
            <a:pPr indent="0" marL="0">
              <a:buNone/>
            </a:pPr>
            <a:r>
              <a:rPr lang="en-US" sz="1400" dirty="0">
                <a:solidFill>
                  <a:schemeClr val="tx2"/>
                </a:solidFill>
              </a:rPr>
              <a:t>Where do we need more capacity, a new lane, a new bus line?</a:t>
            </a:r>
            <a:endParaRPr lang="en-US" sz="1400" dirty="0"/>
          </a:p>
        </p:txBody>
      </p:sp>
      <p:sp>
        <p:nvSpPr>
          <p:cNvPr id="10" name="card"/>
          <p:cNvSpPr/>
          <p:nvPr/>
        </p:nvSpPr>
        <p:spPr>
          <a:xfrm>
            <a:off x="7772400" y="2880360"/>
            <a:ext cx="3840480" cy="1234440"/>
          </a:xfrm>
          <a:prstGeom prst="roundRect">
            <a:avLst>
              <a:gd name="adj" fmla="val 11111"/>
            </a:avLst>
          </a:prstGeom>
          <a:solidFill>
            <a:schemeClr val="bg2"/>
          </a:solidFill>
          <a:ln w="12700">
            <a:solidFill>
              <a:schemeClr val="bg2"/>
            </a:solidFill>
            <a:prstDash val="solid"/>
          </a:ln>
        </p:spPr>
      </p:sp>
      <p:sp>
        <p:nvSpPr>
          <p:cNvPr id="11" name="icon-circle"/>
          <p:cNvSpPr/>
          <p:nvPr/>
        </p:nvSpPr>
        <p:spPr>
          <a:xfrm>
            <a:off x="7955280" y="3154680"/>
            <a:ext cx="685800" cy="685800"/>
          </a:xfrm>
          <a:prstGeom prst="ellipse">
            <a:avLst/>
          </a:prstGeom>
          <a:solidFill>
            <a:srgbClr val="1F7A8C"/>
          </a:solidFill>
          <a:ln w="12700">
            <a:solidFill>
              <a:srgbClr val="1F7A8C"/>
            </a:solidFill>
            <a:prstDash val="solid"/>
          </a:ln>
        </p:spPr>
      </p:sp>
      <p:pic>
        <p:nvPicPr>
          <p:cNvPr id="12" name="icon" descr="preencoded.png">    </p:cNvPr>
          <p:cNvPicPr>
            <a:picLocks noChangeAspect="1"/>
          </p:cNvPicPr>
          <p:nvPr/>
        </p:nvPicPr>
        <p:blipFill>
          <a:blip r:embed="rId2"/>
          <a:stretch>
            <a:fillRect/>
          </a:stretch>
        </p:blipFill>
        <p:spPr>
          <a:xfrm>
            <a:off x="8126730" y="3326130"/>
            <a:ext cx="342900" cy="342900"/>
          </a:xfrm>
          <a:prstGeom prst="rect">
            <a:avLst/>
          </a:prstGeom>
        </p:spPr>
      </p:pic>
      <p:sp>
        <p:nvSpPr>
          <p:cNvPr id="13" name="Text 9"/>
          <p:cNvSpPr txBox="1"/>
          <p:nvPr/>
        </p:nvSpPr>
        <p:spPr>
          <a:xfrm>
            <a:off x="8823960" y="3017520"/>
            <a:ext cx="2651760" cy="411480"/>
          </a:xfrm>
          <a:prstGeom prst="rect">
            <a:avLst/>
          </a:prstGeom>
          <a:noFill/>
          <a:ln/>
        </p:spPr>
        <p:txBody>
          <a:bodyPr wrap="square" lIns="0" tIns="0" rIns="0" bIns="0" rtlCol="0" anchor="ctr"/>
          <a:lstStyle/>
          <a:p>
            <a:pPr indent="0" marL="0">
              <a:buNone/>
            </a:pPr>
            <a:r>
              <a:rPr lang="en-US" sz="1800" b="1" dirty="0">
                <a:solidFill>
                  <a:schemeClr val="tx1"/>
                </a:solidFill>
              </a:rPr>
              <a:t>Accidents</a:t>
            </a:r>
            <a:endParaRPr lang="en-US" sz="1800" dirty="0"/>
          </a:p>
        </p:txBody>
      </p:sp>
      <p:sp>
        <p:nvSpPr>
          <p:cNvPr id="14" name="Text 10"/>
          <p:cNvSpPr txBox="1"/>
          <p:nvPr/>
        </p:nvSpPr>
        <p:spPr>
          <a:xfrm>
            <a:off x="8823960" y="3410712"/>
            <a:ext cx="2697480" cy="640080"/>
          </a:xfrm>
          <a:prstGeom prst="rect">
            <a:avLst/>
          </a:prstGeom>
          <a:noFill/>
          <a:ln/>
        </p:spPr>
        <p:txBody>
          <a:bodyPr wrap="square" lIns="0" tIns="0" rIns="0" bIns="0" rtlCol="0" anchor="t"/>
          <a:lstStyle/>
          <a:p>
            <a:pPr indent="0" marL="0">
              <a:buNone/>
            </a:pPr>
            <a:r>
              <a:rPr lang="en-US" sz="1400" dirty="0">
                <a:solidFill>
                  <a:schemeClr val="tx2"/>
                </a:solidFill>
              </a:rPr>
              <a:t>If a motorway closes, where will the cars go?</a:t>
            </a:r>
            <a:endParaRPr lang="en-US" sz="1400" dirty="0"/>
          </a:p>
        </p:txBody>
      </p:sp>
      <p:sp>
        <p:nvSpPr>
          <p:cNvPr id="15" name="card"/>
          <p:cNvSpPr/>
          <p:nvPr/>
        </p:nvSpPr>
        <p:spPr>
          <a:xfrm>
            <a:off x="7772400" y="4297680"/>
            <a:ext cx="3840480" cy="1234440"/>
          </a:xfrm>
          <a:prstGeom prst="roundRect">
            <a:avLst>
              <a:gd name="adj" fmla="val 11111"/>
            </a:avLst>
          </a:prstGeom>
          <a:solidFill>
            <a:schemeClr val="bg2"/>
          </a:solidFill>
          <a:ln w="12700">
            <a:solidFill>
              <a:schemeClr val="bg2"/>
            </a:solidFill>
            <a:prstDash val="solid"/>
          </a:ln>
        </p:spPr>
      </p:sp>
      <p:sp>
        <p:nvSpPr>
          <p:cNvPr id="16" name="icon-circle"/>
          <p:cNvSpPr/>
          <p:nvPr/>
        </p:nvSpPr>
        <p:spPr>
          <a:xfrm>
            <a:off x="7955280" y="4572000"/>
            <a:ext cx="685800" cy="685800"/>
          </a:xfrm>
          <a:prstGeom prst="ellipse">
            <a:avLst/>
          </a:prstGeom>
          <a:solidFill>
            <a:srgbClr val="1F7A8C"/>
          </a:solidFill>
          <a:ln w="12700">
            <a:solidFill>
              <a:srgbClr val="1F7A8C"/>
            </a:solidFill>
            <a:prstDash val="solid"/>
          </a:ln>
        </p:spPr>
      </p:sp>
      <p:pic>
        <p:nvPicPr>
          <p:cNvPr id="17" name="icon" descr="preencoded.png">    </p:cNvPr>
          <p:cNvPicPr>
            <a:picLocks noChangeAspect="1"/>
          </p:cNvPicPr>
          <p:nvPr/>
        </p:nvPicPr>
        <p:blipFill>
          <a:blip r:embed="rId3"/>
          <a:stretch>
            <a:fillRect/>
          </a:stretch>
        </p:blipFill>
        <p:spPr>
          <a:xfrm>
            <a:off x="8126730" y="4743450"/>
            <a:ext cx="342900" cy="342900"/>
          </a:xfrm>
          <a:prstGeom prst="rect">
            <a:avLst/>
          </a:prstGeom>
        </p:spPr>
      </p:pic>
      <p:sp>
        <p:nvSpPr>
          <p:cNvPr id="18" name="Text 13"/>
          <p:cNvSpPr txBox="1"/>
          <p:nvPr/>
        </p:nvSpPr>
        <p:spPr>
          <a:xfrm>
            <a:off x="8823960" y="4434840"/>
            <a:ext cx="2651760" cy="411480"/>
          </a:xfrm>
          <a:prstGeom prst="rect">
            <a:avLst/>
          </a:prstGeom>
          <a:noFill/>
          <a:ln/>
        </p:spPr>
        <p:txBody>
          <a:bodyPr wrap="square" lIns="0" tIns="0" rIns="0" bIns="0" rtlCol="0" anchor="ctr"/>
          <a:lstStyle/>
          <a:p>
            <a:pPr indent="0" marL="0">
              <a:buNone/>
            </a:pPr>
            <a:r>
              <a:rPr lang="en-US" sz="1800" b="1" dirty="0">
                <a:solidFill>
                  <a:schemeClr val="tx1"/>
                </a:solidFill>
              </a:rPr>
              <a:t>Simulation</a:t>
            </a:r>
            <a:endParaRPr lang="en-US" sz="1800" dirty="0"/>
          </a:p>
        </p:txBody>
      </p:sp>
      <p:sp>
        <p:nvSpPr>
          <p:cNvPr id="19" name="Text 14"/>
          <p:cNvSpPr txBox="1"/>
          <p:nvPr/>
        </p:nvSpPr>
        <p:spPr>
          <a:xfrm>
            <a:off x="8823960" y="4828032"/>
            <a:ext cx="2697480" cy="640080"/>
          </a:xfrm>
          <a:prstGeom prst="rect">
            <a:avLst/>
          </a:prstGeom>
          <a:noFill/>
          <a:ln/>
        </p:spPr>
        <p:txBody>
          <a:bodyPr wrap="square" lIns="0" tIns="0" rIns="0" bIns="0" rtlCol="0" anchor="t"/>
          <a:lstStyle/>
          <a:p>
            <a:pPr indent="0" marL="0">
              <a:buNone/>
            </a:pPr>
            <a:r>
              <a:rPr lang="en-US" sz="1400" dirty="0">
                <a:solidFill>
                  <a:schemeClr val="tx2"/>
                </a:solidFill>
              </a:rPr>
              <a:t>A traffic simulator needs to know who travels where.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What we can measure in Istanbul</a:t>
            </a:r>
            <a:endParaRPr lang="en-US" sz="3400" dirty="0"/>
          </a:p>
        </p:txBody>
      </p:sp>
      <p:sp>
        <p:nvSpPr>
          <p:cNvPr id="3" name="Text 1"/>
          <p:cNvSpPr txBox="1"/>
          <p:nvPr/>
        </p:nvSpPr>
        <p:spPr>
          <a:xfrm>
            <a:off x="548640" y="1417320"/>
            <a:ext cx="2651760" cy="914400"/>
          </a:xfrm>
          <a:prstGeom prst="rect">
            <a:avLst/>
          </a:prstGeom>
          <a:noFill/>
          <a:ln/>
        </p:spPr>
        <p:txBody>
          <a:bodyPr wrap="square" lIns="0" tIns="0" rIns="0" bIns="0" rtlCol="0" anchor="ctr"/>
          <a:lstStyle/>
          <a:p>
            <a:pPr indent="0" marL="0">
              <a:buNone/>
            </a:pPr>
            <a:r>
              <a:rPr lang="en-US" sz="5400" b="1" dirty="0">
                <a:solidFill>
                  <a:srgbClr val="1F7A8C"/>
                </a:solidFill>
              </a:rPr>
              <a:t>~1,000</a:t>
            </a:r>
            <a:endParaRPr lang="en-US" sz="5400" dirty="0"/>
          </a:p>
        </p:txBody>
      </p:sp>
      <p:sp>
        <p:nvSpPr>
          <p:cNvPr id="4" name="Text 2"/>
          <p:cNvSpPr txBox="1"/>
          <p:nvPr/>
        </p:nvSpPr>
        <p:spPr>
          <a:xfrm>
            <a:off x="3291840" y="1508760"/>
            <a:ext cx="3566160" cy="822960"/>
          </a:xfrm>
          <a:prstGeom prst="rect">
            <a:avLst/>
          </a:prstGeom>
          <a:noFill/>
          <a:ln/>
        </p:spPr>
        <p:txBody>
          <a:bodyPr wrap="square" lIns="0" tIns="0" rIns="0" bIns="0" rtlCol="0" anchor="ctr"/>
          <a:lstStyle/>
          <a:p>
            <a:pPr indent="0" marL="0">
              <a:buNone/>
            </a:pPr>
            <a:r>
              <a:rPr lang="en-US" sz="1800" dirty="0">
                <a:solidFill>
                  <a:schemeClr val="tx1"/>
                </a:solidFill>
              </a:rPr>
              <a:t>road pieces with a live speed, updated every few minutes</a:t>
            </a:r>
            <a:endParaRPr lang="en-US" sz="1800" dirty="0"/>
          </a:p>
        </p:txBody>
      </p:sp>
      <p:sp>
        <p:nvSpPr>
          <p:cNvPr id="5" name="Text 3"/>
          <p:cNvSpPr txBox="1"/>
          <p:nvPr/>
        </p:nvSpPr>
        <p:spPr>
          <a:xfrm>
            <a:off x="548640" y="3017520"/>
            <a:ext cx="2651760" cy="914400"/>
          </a:xfrm>
          <a:prstGeom prst="rect">
            <a:avLst/>
          </a:prstGeom>
          <a:noFill/>
          <a:ln/>
        </p:spPr>
        <p:txBody>
          <a:bodyPr wrap="square" lIns="0" tIns="0" rIns="0" bIns="0" rtlCol="0" anchor="ctr"/>
          <a:lstStyle/>
          <a:p>
            <a:pPr indent="0" marL="0">
              <a:buNone/>
            </a:pPr>
            <a:r>
              <a:rPr lang="en-US" sz="5400" b="1" dirty="0">
                <a:solidFill>
                  <a:srgbClr val="E8963D"/>
                </a:solidFill>
              </a:rPr>
              <a:t>23</a:t>
            </a:r>
            <a:endParaRPr lang="en-US" sz="5400" dirty="0"/>
          </a:p>
        </p:txBody>
      </p:sp>
      <p:sp>
        <p:nvSpPr>
          <p:cNvPr id="6" name="Text 4"/>
          <p:cNvSpPr txBox="1"/>
          <p:nvPr/>
        </p:nvSpPr>
        <p:spPr>
          <a:xfrm>
            <a:off x="3291840" y="3108960"/>
            <a:ext cx="3566160" cy="822960"/>
          </a:xfrm>
          <a:prstGeom prst="rect">
            <a:avLst/>
          </a:prstGeom>
          <a:noFill/>
          <a:ln/>
        </p:spPr>
        <p:txBody>
          <a:bodyPr wrap="square" lIns="0" tIns="0" rIns="0" bIns="0" rtlCol="0" anchor="ctr"/>
          <a:lstStyle/>
          <a:p>
            <a:pPr indent="0" marL="0">
              <a:buNone/>
            </a:pPr>
            <a:r>
              <a:rPr lang="en-US" sz="1800" dirty="0">
                <a:solidFill>
                  <a:schemeClr val="tx1"/>
                </a:solidFill>
              </a:rPr>
              <a:t>car counters: only a few places count actual cars</a:t>
            </a:r>
            <a:endParaRPr lang="en-US" sz="1800" dirty="0"/>
          </a:p>
        </p:txBody>
      </p:sp>
      <p:sp>
        <p:nvSpPr>
          <p:cNvPr id="7" name="Text 5"/>
          <p:cNvSpPr txBox="1"/>
          <p:nvPr/>
        </p:nvSpPr>
        <p:spPr>
          <a:xfrm>
            <a:off x="548640" y="4617720"/>
            <a:ext cx="2651760" cy="914400"/>
          </a:xfrm>
          <a:prstGeom prst="rect">
            <a:avLst/>
          </a:prstGeom>
          <a:noFill/>
          <a:ln/>
        </p:spPr>
        <p:txBody>
          <a:bodyPr wrap="square" lIns="0" tIns="0" rIns="0" bIns="0" rtlCol="0" anchor="ctr"/>
          <a:lstStyle/>
          <a:p>
            <a:pPr indent="0" marL="0">
              <a:buNone/>
            </a:pPr>
            <a:r>
              <a:rPr lang="en-US" sz="5400" b="1" dirty="0">
                <a:solidFill>
                  <a:srgbClr val="2E9E6B"/>
                </a:solidFill>
              </a:rPr>
              <a:t>31</a:t>
            </a:r>
            <a:endParaRPr lang="en-US" sz="5400" dirty="0"/>
          </a:p>
        </p:txBody>
      </p:sp>
      <p:sp>
        <p:nvSpPr>
          <p:cNvPr id="8" name="Text 6"/>
          <p:cNvSpPr txBox="1"/>
          <p:nvPr/>
        </p:nvSpPr>
        <p:spPr>
          <a:xfrm>
            <a:off x="3291840" y="4709160"/>
            <a:ext cx="3566160" cy="822960"/>
          </a:xfrm>
          <a:prstGeom prst="rect">
            <a:avLst/>
          </a:prstGeom>
          <a:noFill/>
          <a:ln/>
        </p:spPr>
        <p:txBody>
          <a:bodyPr wrap="square" lIns="0" tIns="0" rIns="0" bIns="0" rtlCol="0" anchor="ctr"/>
          <a:lstStyle/>
          <a:p>
            <a:pPr indent="0" marL="0">
              <a:buNone/>
            </a:pPr>
            <a:r>
              <a:rPr lang="en-US" sz="1800" dirty="0">
                <a:solidFill>
                  <a:schemeClr val="tx1"/>
                </a:solidFill>
              </a:rPr>
              <a:t>metro and Metrobüs stops: Istanbulkart taps per hour</a:t>
            </a:r>
            <a:endParaRPr lang="en-US" sz="1800" dirty="0"/>
          </a:p>
        </p:txBody>
      </p:sp>
      <p:sp>
        <p:nvSpPr>
          <p:cNvPr id="9" name="Text 7"/>
          <p:cNvSpPr txBox="1"/>
          <p:nvPr/>
        </p:nvSpPr>
        <p:spPr>
          <a:xfrm>
            <a:off x="548640" y="5989320"/>
            <a:ext cx="6035040" cy="457200"/>
          </a:xfrm>
          <a:prstGeom prst="rect">
            <a:avLst/>
          </a:prstGeom>
          <a:noFill/>
          <a:ln/>
        </p:spPr>
        <p:txBody>
          <a:bodyPr wrap="square" lIns="0" tIns="0" rIns="0" bIns="0" rtlCol="0" anchor="ctr"/>
          <a:lstStyle/>
          <a:p>
            <a:pPr indent="0" marL="0">
              <a:buNone/>
            </a:pPr>
            <a:r>
              <a:rPr lang="en-US" sz="1400" i="1" dirty="0">
                <a:solidFill>
                  <a:schemeClr val="tx2"/>
                </a:solidFill>
              </a:rPr>
              <a:t>All of it is free, open data from the Istanbul Metropolitan Municipality (İBB) and OpenStreetMap.</a:t>
            </a:r>
            <a:endParaRPr lang="en-US" sz="1400" dirty="0"/>
          </a:p>
        </p:txBody>
      </p:sp>
      <p:pic>
        <p:nvPicPr>
          <p:cNvPr id="10" name="live-map" descr="C:\Users\arif.asiroglu\Traffic_Intelligence\procedural-istanbul\docs\sunum\img\genel-gorunum.jpg">    </p:cNvPr>
          <p:cNvPicPr>
            <a:picLocks noChangeAspect="1"/>
          </p:cNvPicPr>
          <p:nvPr/>
        </p:nvPicPr>
        <p:blipFill>
          <a:blip r:embed="rId1"/>
          <a:srcRect l="0" r="0" t="0" b="0"/>
          <a:stretch/>
        </p:blipFill>
        <p:spPr>
          <a:xfrm>
            <a:off x="7086600" y="1325880"/>
            <a:ext cx="4526280" cy="4992624"/>
          </a:xfrm>
          <a:prstGeom prst="rect">
            <a:avLst/>
          </a:prstGeom>
        </p:spPr>
      </p:pic>
      <p:sp>
        <p:nvSpPr>
          <p:cNvPr id="11" name="Text 8"/>
          <p:cNvSpPr txBox="1"/>
          <p:nvPr/>
        </p:nvSpPr>
        <p:spPr>
          <a:xfrm>
            <a:off x="7086600" y="6355080"/>
            <a:ext cx="4526280" cy="320040"/>
          </a:xfrm>
          <a:prstGeom prst="rect">
            <a:avLst/>
          </a:prstGeom>
          <a:noFill/>
          <a:ln/>
        </p:spPr>
        <p:txBody>
          <a:bodyPr wrap="square" lIns="0" tIns="0" rIns="0" bIns="0" rtlCol="0" anchor="ctr"/>
          <a:lstStyle/>
          <a:p>
            <a:pPr indent="0" marL="0">
              <a:buNone/>
            </a:pPr>
            <a:r>
              <a:rPr lang="en-US" sz="1100" dirty="0">
                <a:solidFill>
                  <a:srgbClr val="8A94A6"/>
                </a:solidFill>
              </a:rPr>
              <a:t>Roads coloured by live İBB speeds</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Why is this hard? A speed is not a count</a:t>
            </a:r>
            <a:endParaRPr lang="en-US" sz="3400" dirty="0"/>
          </a:p>
        </p:txBody>
      </p:sp>
      <p:pic>
        <p:nvPicPr>
          <p:cNvPr id="3" name="speed-puzzle" descr="C:\Users\arif.asiroglu\AppData\Local\Temp\claude\C--Users-arif-asiroglu-Traffic-Intelligence\5c2796c9-d62b-4927-99f5-a4916ca8f74d\scratchpad\deck\speed_puzzle.png">    </p:cNvPr>
          <p:cNvPicPr>
            <a:picLocks noChangeAspect="1"/>
          </p:cNvPicPr>
          <p:nvPr/>
        </p:nvPicPr>
        <p:blipFill>
          <a:blip r:embed="rId1"/>
          <a:stretch>
            <a:fillRect/>
          </a:stretch>
        </p:blipFill>
        <p:spPr>
          <a:xfrm>
            <a:off x="548640" y="1325880"/>
            <a:ext cx="8229600" cy="4050792"/>
          </a:xfrm>
          <a:prstGeom prst="rect">
            <a:avLst/>
          </a:prstGeom>
        </p:spPr>
      </p:pic>
      <p:sp>
        <p:nvSpPr>
          <p:cNvPr id="4" name="takeaway"/>
          <p:cNvSpPr/>
          <p:nvPr/>
        </p:nvSpPr>
        <p:spPr>
          <a:xfrm>
            <a:off x="9098280" y="1463040"/>
            <a:ext cx="2560320" cy="3749040"/>
          </a:xfrm>
          <a:prstGeom prst="roundRect">
            <a:avLst>
              <a:gd name="adj" fmla="val 5357"/>
            </a:avLst>
          </a:prstGeom>
          <a:solidFill>
            <a:schemeClr val="bg2"/>
          </a:solidFill>
          <a:ln w="12700">
            <a:solidFill>
              <a:schemeClr val="bg2"/>
            </a:solidFill>
            <a:prstDash val="solid"/>
          </a:ln>
        </p:spPr>
      </p:sp>
      <p:sp>
        <p:nvSpPr>
          <p:cNvPr id="5" name="Text 2"/>
          <p:cNvSpPr txBox="1"/>
          <p:nvPr/>
        </p:nvSpPr>
        <p:spPr>
          <a:xfrm>
            <a:off x="9281160" y="1645920"/>
            <a:ext cx="2240280" cy="3474720"/>
          </a:xfrm>
          <a:prstGeom prst="rect">
            <a:avLst/>
          </a:prstGeom>
          <a:noFill/>
          <a:ln/>
        </p:spPr>
        <p:txBody>
          <a:bodyPr wrap="square" lIns="0" tIns="0" rIns="0" bIns="0" rtlCol="0" anchor="t"/>
          <a:lstStyle/>
          <a:p>
            <a:pPr indent="0" marL="0">
              <a:buNone/>
            </a:pPr>
            <a:r>
              <a:rPr lang="en-US" sz="2000" b="1" dirty="0">
                <a:solidFill>
                  <a:schemeClr val="accent1"/>
                </a:solidFill>
              </a:rPr>
              <a:t>Our rule</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Fast road:</a:t>
            </a:r>
            <a:endParaRPr lang="en-US" sz="1500" dirty="0"/>
          </a:p>
          <a:p>
            <a:pPr indent="0" marL="0">
              <a:buNone/>
            </a:pPr>
            <a:r>
              <a:rPr lang="en-US" sz="1500" dirty="0">
                <a:solidFill>
                  <a:schemeClr val="tx1"/>
                </a:solidFill>
              </a:rPr>
              <a:t>“at most this many cars”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Jammed road:</a:t>
            </a:r>
            <a:endParaRPr lang="en-US" sz="1500" dirty="0"/>
          </a:p>
          <a:p>
            <a:pPr indent="0" marL="0">
              <a:buNone/>
            </a:pPr>
            <a:r>
              <a:rPr lang="en-US" sz="1500" dirty="0">
                <a:solidFill>
                  <a:schemeClr val="tx1"/>
                </a:solidFill>
              </a:rPr>
              <a:t>“at least this many cars”</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We never invent an exact number.</a:t>
            </a:r>
            <a:endParaRPr lang="en-US" sz="1500" dirty="0"/>
          </a:p>
        </p:txBody>
      </p:sp>
      <p:sp>
        <p:nvSpPr>
          <p:cNvPr id="6" name="Text 3"/>
          <p:cNvSpPr txBox="1"/>
          <p:nvPr/>
        </p:nvSpPr>
        <p:spPr>
          <a:xfrm>
            <a:off x="548640" y="5715000"/>
            <a:ext cx="10972800" cy="457200"/>
          </a:xfrm>
          <a:prstGeom prst="rect">
            <a:avLst/>
          </a:prstGeom>
          <a:noFill/>
          <a:ln/>
        </p:spPr>
        <p:txBody>
          <a:bodyPr wrap="square" lIns="0" tIns="0" rIns="0" bIns="0" rtlCol="0" anchor="ctr"/>
          <a:lstStyle/>
          <a:p>
            <a:pPr indent="0" marL="0">
              <a:buNone/>
            </a:pPr>
            <a:r>
              <a:rPr lang="en-US" sz="1600" i="1" dirty="0">
                <a:solidFill>
                  <a:schemeClr val="tx2"/>
                </a:solidFill>
              </a:rPr>
              <a:t>This careful use of speed (a “censored observation”) is the main idea of the project.</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Our approach in three steps</a:t>
            </a:r>
            <a:endParaRPr lang="en-US" sz="3400" dirty="0"/>
          </a:p>
        </p:txBody>
      </p:sp>
      <p:sp>
        <p:nvSpPr>
          <p:cNvPr id="3" name="step"/>
          <p:cNvSpPr/>
          <p:nvPr/>
        </p:nvSpPr>
        <p:spPr>
          <a:xfrm>
            <a:off x="548640" y="1554480"/>
            <a:ext cx="3429000" cy="3931920"/>
          </a:xfrm>
          <a:prstGeom prst="roundRect">
            <a:avLst>
              <a:gd name="adj" fmla="val 4000"/>
            </a:avLst>
          </a:prstGeom>
          <a:solidFill>
            <a:srgbClr val="1F7A8C"/>
          </a:solidFill>
          <a:ln w="12700">
            <a:solidFill>
              <a:srgbClr val="1F7A8C"/>
            </a:solidFill>
            <a:prstDash val="solid"/>
          </a:ln>
        </p:spPr>
      </p:sp>
      <p:sp>
        <p:nvSpPr>
          <p:cNvPr id="4" name="icon-circle"/>
          <p:cNvSpPr/>
          <p:nvPr/>
        </p:nvSpPr>
        <p:spPr>
          <a:xfrm>
            <a:off x="868680" y="1828800"/>
            <a:ext cx="914400" cy="914400"/>
          </a:xfrm>
          <a:prstGeom prst="ellipse">
            <a:avLst/>
          </a:prstGeom>
          <a:solidFill>
            <a:srgbClr val="FFFFFF"/>
          </a:solidFill>
          <a:ln w="12700">
            <a:solidFill>
              <a:srgbClr val="FFFFFF"/>
            </a:solidFill>
            <a:prstDash val="solid"/>
          </a:ln>
        </p:spPr>
      </p:sp>
      <p:pic>
        <p:nvPicPr>
          <p:cNvPr id="5" name="icon" descr="preencoded.png">    </p:cNvPr>
          <p:cNvPicPr>
            <a:picLocks noChangeAspect="1"/>
          </p:cNvPicPr>
          <p:nvPr/>
        </p:nvPicPr>
        <p:blipFill>
          <a:blip r:embed="rId1"/>
          <a:stretch>
            <a:fillRect/>
          </a:stretch>
        </p:blipFill>
        <p:spPr>
          <a:xfrm>
            <a:off x="1097280" y="2057400"/>
            <a:ext cx="457200" cy="457200"/>
          </a:xfrm>
          <a:prstGeom prst="rect">
            <a:avLst/>
          </a:prstGeom>
        </p:spPr>
      </p:pic>
      <p:sp>
        <p:nvSpPr>
          <p:cNvPr id="6" name="Text 3"/>
          <p:cNvSpPr txBox="1"/>
          <p:nvPr/>
        </p:nvSpPr>
        <p:spPr>
          <a:xfrm>
            <a:off x="868680" y="2971800"/>
            <a:ext cx="2834640" cy="548640"/>
          </a:xfrm>
          <a:prstGeom prst="rect">
            <a:avLst/>
          </a:prstGeom>
          <a:noFill/>
          <a:ln/>
        </p:spPr>
        <p:txBody>
          <a:bodyPr wrap="square" lIns="0" tIns="0" rIns="0" bIns="0" rtlCol="0" anchor="ctr"/>
          <a:lstStyle/>
          <a:p>
            <a:pPr indent="0" marL="0">
              <a:buNone/>
            </a:pPr>
            <a:r>
              <a:rPr lang="en-US" sz="2200" b="1" dirty="0">
                <a:solidFill>
                  <a:srgbClr val="FFFFFF"/>
                </a:solidFill>
              </a:rPr>
              <a:t>1  Measure</a:t>
            </a:r>
            <a:endParaRPr lang="en-US" sz="2200" dirty="0"/>
          </a:p>
        </p:txBody>
      </p:sp>
      <p:sp>
        <p:nvSpPr>
          <p:cNvPr id="7" name="Text 4"/>
          <p:cNvSpPr txBox="1"/>
          <p:nvPr/>
        </p:nvSpPr>
        <p:spPr>
          <a:xfrm>
            <a:off x="868680" y="3611880"/>
            <a:ext cx="2834640" cy="1645920"/>
          </a:xfrm>
          <a:prstGeom prst="rect">
            <a:avLst/>
          </a:prstGeom>
          <a:noFill/>
          <a:ln/>
        </p:spPr>
        <p:txBody>
          <a:bodyPr wrap="square" lIns="0" tIns="0" rIns="0" bIns="0" rtlCol="0" anchor="t"/>
          <a:lstStyle/>
          <a:p>
            <a:pPr indent="0" marL="0">
              <a:buNone/>
            </a:pPr>
            <a:r>
              <a:rPr lang="en-US" sz="1600" dirty="0">
                <a:solidFill>
                  <a:srgbClr val="FFFFFF"/>
                </a:solidFill>
              </a:rPr>
              <a:t>Speeds on 1,000 roads, 23 car counters and metro card taps</a:t>
            </a:r>
            <a:endParaRPr lang="en-US" sz="1600" dirty="0"/>
          </a:p>
        </p:txBody>
      </p:sp>
      <p:sp>
        <p:nvSpPr>
          <p:cNvPr id="8" name="Text 5"/>
          <p:cNvSpPr txBox="1"/>
          <p:nvPr/>
        </p:nvSpPr>
        <p:spPr>
          <a:xfrm>
            <a:off x="3950208" y="3108960"/>
            <a:ext cx="411480" cy="548640"/>
          </a:xfrm>
          <a:prstGeom prst="rect">
            <a:avLst/>
          </a:prstGeom>
          <a:noFill/>
          <a:ln/>
        </p:spPr>
        <p:txBody>
          <a:bodyPr wrap="square" lIns="0" tIns="0" rIns="0" bIns="0" rtlCol="0" anchor="ctr"/>
          <a:lstStyle/>
          <a:p>
            <a:pPr algn="ctr" indent="0" marL="0">
              <a:buNone/>
            </a:pPr>
            <a:r>
              <a:rPr lang="en-US" sz="2800" b="1" dirty="0">
                <a:solidFill>
                  <a:srgbClr val="8A94A6"/>
                </a:solidFill>
              </a:rPr>
              <a:t>→</a:t>
            </a:r>
            <a:endParaRPr lang="en-US" sz="2800" dirty="0"/>
          </a:p>
        </p:txBody>
      </p:sp>
      <p:sp>
        <p:nvSpPr>
          <p:cNvPr id="9" name="step"/>
          <p:cNvSpPr/>
          <p:nvPr/>
        </p:nvSpPr>
        <p:spPr>
          <a:xfrm>
            <a:off x="4343400" y="1554480"/>
            <a:ext cx="3429000" cy="3931920"/>
          </a:xfrm>
          <a:prstGeom prst="roundRect">
            <a:avLst>
              <a:gd name="adj" fmla="val 4000"/>
            </a:avLst>
          </a:prstGeom>
          <a:solidFill>
            <a:srgbClr val="E8963D"/>
          </a:solidFill>
          <a:ln w="12700">
            <a:solidFill>
              <a:srgbClr val="E8963D"/>
            </a:solidFill>
            <a:prstDash val="solid"/>
          </a:ln>
        </p:spPr>
      </p:sp>
      <p:sp>
        <p:nvSpPr>
          <p:cNvPr id="10" name="icon-circle"/>
          <p:cNvSpPr/>
          <p:nvPr/>
        </p:nvSpPr>
        <p:spPr>
          <a:xfrm>
            <a:off x="4663440" y="1828800"/>
            <a:ext cx="914400" cy="914400"/>
          </a:xfrm>
          <a:prstGeom prst="ellipse">
            <a:avLst/>
          </a:prstGeom>
          <a:solidFill>
            <a:srgbClr val="FFFFFF"/>
          </a:solidFill>
          <a:ln w="12700">
            <a:solidFill>
              <a:srgbClr val="FFFFFF"/>
            </a:solidFill>
            <a:prstDash val="solid"/>
          </a:ln>
        </p:spPr>
      </p:sp>
      <p:pic>
        <p:nvPicPr>
          <p:cNvPr id="11" name="icon" descr="preencoded.png">    </p:cNvPr>
          <p:cNvPicPr>
            <a:picLocks noChangeAspect="1"/>
          </p:cNvPicPr>
          <p:nvPr/>
        </p:nvPicPr>
        <p:blipFill>
          <a:blip r:embed="rId2"/>
          <a:stretch>
            <a:fillRect/>
          </a:stretch>
        </p:blipFill>
        <p:spPr>
          <a:xfrm>
            <a:off x="4892040" y="2057400"/>
            <a:ext cx="457200" cy="457200"/>
          </a:xfrm>
          <a:prstGeom prst="rect">
            <a:avLst/>
          </a:prstGeom>
        </p:spPr>
      </p:pic>
      <p:sp>
        <p:nvSpPr>
          <p:cNvPr id="12" name="Text 8"/>
          <p:cNvSpPr txBox="1"/>
          <p:nvPr/>
        </p:nvSpPr>
        <p:spPr>
          <a:xfrm>
            <a:off x="4663440" y="2971800"/>
            <a:ext cx="2834640" cy="548640"/>
          </a:xfrm>
          <a:prstGeom prst="rect">
            <a:avLst/>
          </a:prstGeom>
          <a:noFill/>
          <a:ln/>
        </p:spPr>
        <p:txBody>
          <a:bodyPr wrap="square" lIns="0" tIns="0" rIns="0" bIns="0" rtlCol="0" anchor="ctr"/>
          <a:lstStyle/>
          <a:p>
            <a:pPr indent="0" marL="0">
              <a:buNone/>
            </a:pPr>
            <a:r>
              <a:rPr lang="en-US" sz="2200" b="1" dirty="0">
                <a:solidFill>
                  <a:srgbClr val="FFFFFF"/>
                </a:solidFill>
              </a:rPr>
              <a:t>2  Work backwards</a:t>
            </a:r>
            <a:endParaRPr lang="en-US" sz="2200" dirty="0"/>
          </a:p>
        </p:txBody>
      </p:sp>
      <p:sp>
        <p:nvSpPr>
          <p:cNvPr id="13" name="Text 9"/>
          <p:cNvSpPr txBox="1"/>
          <p:nvPr/>
        </p:nvSpPr>
        <p:spPr>
          <a:xfrm>
            <a:off x="4663440" y="3611880"/>
            <a:ext cx="2834640" cy="1645920"/>
          </a:xfrm>
          <a:prstGeom prst="rect">
            <a:avLst/>
          </a:prstGeom>
          <a:noFill/>
          <a:ln/>
        </p:spPr>
        <p:txBody>
          <a:bodyPr wrap="square" lIns="0" tIns="0" rIns="0" bIns="0" rtlCol="0" anchor="t"/>
          <a:lstStyle/>
          <a:p>
            <a:pPr indent="0" marL="0">
              <a:buNone/>
            </a:pPr>
            <a:r>
              <a:rPr lang="en-US" sz="1600" dirty="0">
                <a:solidFill>
                  <a:srgbClr val="FFFFFF"/>
                </a:solidFill>
              </a:rPr>
              <a:t>Find the trips that best explain what we measured, and say how sure we are</a:t>
            </a:r>
            <a:endParaRPr lang="en-US" sz="1600" dirty="0"/>
          </a:p>
        </p:txBody>
      </p:sp>
      <p:sp>
        <p:nvSpPr>
          <p:cNvPr id="14" name="Text 10"/>
          <p:cNvSpPr txBox="1"/>
          <p:nvPr/>
        </p:nvSpPr>
        <p:spPr>
          <a:xfrm>
            <a:off x="7744968" y="3108960"/>
            <a:ext cx="411480" cy="548640"/>
          </a:xfrm>
          <a:prstGeom prst="rect">
            <a:avLst/>
          </a:prstGeom>
          <a:noFill/>
          <a:ln/>
        </p:spPr>
        <p:txBody>
          <a:bodyPr wrap="square" lIns="0" tIns="0" rIns="0" bIns="0" rtlCol="0" anchor="ctr"/>
          <a:lstStyle/>
          <a:p>
            <a:pPr algn="ctr" indent="0" marL="0">
              <a:buNone/>
            </a:pPr>
            <a:r>
              <a:rPr lang="en-US" sz="2800" b="1" dirty="0">
                <a:solidFill>
                  <a:srgbClr val="8A94A6"/>
                </a:solidFill>
              </a:rPr>
              <a:t>→</a:t>
            </a:r>
            <a:endParaRPr lang="en-US" sz="2800" dirty="0"/>
          </a:p>
        </p:txBody>
      </p:sp>
      <p:sp>
        <p:nvSpPr>
          <p:cNvPr id="15" name="step"/>
          <p:cNvSpPr/>
          <p:nvPr/>
        </p:nvSpPr>
        <p:spPr>
          <a:xfrm>
            <a:off x="8138160" y="1554480"/>
            <a:ext cx="3429000" cy="3931920"/>
          </a:xfrm>
          <a:prstGeom prst="roundRect">
            <a:avLst>
              <a:gd name="adj" fmla="val 4000"/>
            </a:avLst>
          </a:prstGeom>
          <a:solidFill>
            <a:srgbClr val="2E9E6B"/>
          </a:solidFill>
          <a:ln w="12700">
            <a:solidFill>
              <a:srgbClr val="2E9E6B"/>
            </a:solidFill>
            <a:prstDash val="solid"/>
          </a:ln>
        </p:spPr>
      </p:sp>
      <p:sp>
        <p:nvSpPr>
          <p:cNvPr id="16" name="icon-circle"/>
          <p:cNvSpPr/>
          <p:nvPr/>
        </p:nvSpPr>
        <p:spPr>
          <a:xfrm>
            <a:off x="8458200" y="1828800"/>
            <a:ext cx="914400" cy="914400"/>
          </a:xfrm>
          <a:prstGeom prst="ellipse">
            <a:avLst/>
          </a:prstGeom>
          <a:solidFill>
            <a:srgbClr val="FFFFFF"/>
          </a:solidFill>
          <a:ln w="12700">
            <a:solidFill>
              <a:srgbClr val="FFFFFF"/>
            </a:solidFill>
            <a:prstDash val="solid"/>
          </a:ln>
        </p:spPr>
      </p:sp>
      <p:pic>
        <p:nvPicPr>
          <p:cNvPr id="17" name="icon" descr="preencoded.png">    </p:cNvPr>
          <p:cNvPicPr>
            <a:picLocks noChangeAspect="1"/>
          </p:cNvPicPr>
          <p:nvPr/>
        </p:nvPicPr>
        <p:blipFill>
          <a:blip r:embed="rId3"/>
          <a:stretch>
            <a:fillRect/>
          </a:stretch>
        </p:blipFill>
        <p:spPr>
          <a:xfrm>
            <a:off x="8686800" y="2057400"/>
            <a:ext cx="457200" cy="457200"/>
          </a:xfrm>
          <a:prstGeom prst="rect">
            <a:avLst/>
          </a:prstGeom>
        </p:spPr>
      </p:pic>
      <p:sp>
        <p:nvSpPr>
          <p:cNvPr id="18" name="Text 13"/>
          <p:cNvSpPr txBox="1"/>
          <p:nvPr/>
        </p:nvSpPr>
        <p:spPr>
          <a:xfrm>
            <a:off x="8458200" y="2971800"/>
            <a:ext cx="2834640" cy="548640"/>
          </a:xfrm>
          <a:prstGeom prst="rect">
            <a:avLst/>
          </a:prstGeom>
          <a:noFill/>
          <a:ln/>
        </p:spPr>
        <p:txBody>
          <a:bodyPr wrap="square" lIns="0" tIns="0" rIns="0" bIns="0" rtlCol="0" anchor="ctr"/>
          <a:lstStyle/>
          <a:p>
            <a:pPr indent="0" marL="0">
              <a:buNone/>
            </a:pPr>
            <a:r>
              <a:rPr lang="en-US" sz="2200" b="1" dirty="0">
                <a:solidFill>
                  <a:srgbClr val="FFFFFF"/>
                </a:solidFill>
              </a:rPr>
              <a:t>3  Check and simulate</a:t>
            </a:r>
            <a:endParaRPr lang="en-US" sz="2200" dirty="0"/>
          </a:p>
        </p:txBody>
      </p:sp>
      <p:sp>
        <p:nvSpPr>
          <p:cNvPr id="19" name="Text 14"/>
          <p:cNvSpPr txBox="1"/>
          <p:nvPr/>
        </p:nvSpPr>
        <p:spPr>
          <a:xfrm>
            <a:off x="8458200" y="3611880"/>
            <a:ext cx="2834640" cy="1645920"/>
          </a:xfrm>
          <a:prstGeom prst="rect">
            <a:avLst/>
          </a:prstGeom>
          <a:noFill/>
          <a:ln/>
        </p:spPr>
        <p:txBody>
          <a:bodyPr wrap="square" lIns="0" tIns="0" rIns="0" bIns="0" rtlCol="0" anchor="t"/>
          <a:lstStyle/>
          <a:p>
            <a:pPr indent="0" marL="0">
              <a:buNone/>
            </a:pPr>
            <a:r>
              <a:rPr lang="en-US" sz="1600" dirty="0">
                <a:solidFill>
                  <a:srgbClr val="FFFFFF"/>
                </a:solidFill>
              </a:rPr>
              <a:t>Test on data the model never saw, then play “what if” in a traffic simulator</a:t>
            </a:r>
            <a:endParaRPr lang="en-US" sz="1600" dirty="0"/>
          </a:p>
        </p:txBody>
      </p:sp>
      <p:sp>
        <p:nvSpPr>
          <p:cNvPr id="20" name="Text 15"/>
          <p:cNvSpPr txBox="1"/>
          <p:nvPr/>
        </p:nvSpPr>
        <p:spPr>
          <a:xfrm>
            <a:off x="548640" y="5760720"/>
            <a:ext cx="10972800" cy="457200"/>
          </a:xfrm>
          <a:prstGeom prst="rect">
            <a:avLst/>
          </a:prstGeom>
          <a:noFill/>
          <a:ln/>
        </p:spPr>
        <p:txBody>
          <a:bodyPr wrap="square" lIns="0" tIns="0" rIns="0" bIns="0" rtlCol="0" anchor="ctr"/>
          <a:lstStyle/>
          <a:p>
            <a:pPr indent="0" marL="0">
              <a:buNone/>
            </a:pPr>
            <a:r>
              <a:rPr lang="en-US" sz="1600" i="1" dirty="0">
                <a:solidFill>
                  <a:schemeClr val="tx2"/>
                </a:solidFill>
              </a:rPr>
              <a:t>Like a detective: we do not see the trips, only their footprints on the roads.</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Step 1 · A 3D copy of the city from open data</a:t>
            </a:r>
            <a:endParaRPr lang="en-US" sz="3400" dirty="0"/>
          </a:p>
        </p:txBody>
      </p:sp>
      <p:pic>
        <p:nvPicPr>
          <p:cNvPr id="3" name="shot" descr="C:\Users\arif.asiroglu\Traffic_Intelligence\procedural-istanbul\docs\sunum\img\kopru-ortakoy.jpg">    </p:cNvPr>
          <p:cNvPicPr>
            <a:picLocks noChangeAspect="1"/>
          </p:cNvPicPr>
          <p:nvPr/>
        </p:nvPicPr>
        <p:blipFill>
          <a:blip r:embed="rId1"/>
          <a:srcRect l="0" r="0" t="0" b="0"/>
          <a:stretch/>
        </p:blipFill>
        <p:spPr>
          <a:xfrm>
            <a:off x="548640" y="1325880"/>
            <a:ext cx="3520440" cy="3886200"/>
          </a:xfrm>
          <a:prstGeom prst="rect">
            <a:avLst/>
          </a:prstGeom>
        </p:spPr>
      </p:pic>
      <p:sp>
        <p:nvSpPr>
          <p:cNvPr id="4" name="Text 1"/>
          <p:cNvSpPr txBox="1"/>
          <p:nvPr/>
        </p:nvSpPr>
        <p:spPr>
          <a:xfrm>
            <a:off x="548640" y="5257800"/>
            <a:ext cx="3520440" cy="320040"/>
          </a:xfrm>
          <a:prstGeom prst="rect">
            <a:avLst/>
          </a:prstGeom>
          <a:noFill/>
          <a:ln/>
        </p:spPr>
        <p:txBody>
          <a:bodyPr wrap="square" lIns="0" tIns="0" rIns="0" bIns="0" rtlCol="0" anchor="ctr"/>
          <a:lstStyle/>
          <a:p>
            <a:pPr indent="0" marL="0">
              <a:buNone/>
            </a:pPr>
            <a:r>
              <a:rPr lang="en-US" sz="1300" dirty="0">
                <a:solidFill>
                  <a:srgbClr val="8A94A6"/>
                </a:solidFill>
              </a:rPr>
              <a:t>15 July Bridge and Ortaköy</a:t>
            </a:r>
            <a:endParaRPr lang="en-US" sz="1300" dirty="0"/>
          </a:p>
        </p:txBody>
      </p:sp>
      <p:pic>
        <p:nvPicPr>
          <p:cNvPr id="5" name="shot" descr="C:\Users\arif.asiroglu\Traffic_Intelligence\procedural-istanbul\docs\sunum\img\levent-kuleler.jpg">    </p:cNvPr>
          <p:cNvPicPr>
            <a:picLocks noChangeAspect="1"/>
          </p:cNvPicPr>
          <p:nvPr/>
        </p:nvPicPr>
        <p:blipFill>
          <a:blip r:embed="rId2"/>
          <a:srcRect l="0" r="0" t="0" b="0"/>
          <a:stretch/>
        </p:blipFill>
        <p:spPr>
          <a:xfrm>
            <a:off x="4297680" y="1325880"/>
            <a:ext cx="3520440" cy="3886200"/>
          </a:xfrm>
          <a:prstGeom prst="rect">
            <a:avLst/>
          </a:prstGeom>
        </p:spPr>
      </p:pic>
      <p:sp>
        <p:nvSpPr>
          <p:cNvPr id="6" name="Text 2"/>
          <p:cNvSpPr txBox="1"/>
          <p:nvPr/>
        </p:nvSpPr>
        <p:spPr>
          <a:xfrm>
            <a:off x="4297680" y="5257800"/>
            <a:ext cx="3520440" cy="320040"/>
          </a:xfrm>
          <a:prstGeom prst="rect">
            <a:avLst/>
          </a:prstGeom>
          <a:noFill/>
          <a:ln/>
        </p:spPr>
        <p:txBody>
          <a:bodyPr wrap="square" lIns="0" tIns="0" rIns="0" bIns="0" rtlCol="0" anchor="ctr"/>
          <a:lstStyle/>
          <a:p>
            <a:pPr indent="0" marL="0">
              <a:buNone/>
            </a:pPr>
            <a:r>
              <a:rPr lang="en-US" sz="1300" dirty="0">
                <a:solidFill>
                  <a:srgbClr val="8A94A6"/>
                </a:solidFill>
              </a:rPr>
              <a:t>Levent towers</a:t>
            </a:r>
            <a:endParaRPr lang="en-US" sz="1300" dirty="0"/>
          </a:p>
        </p:txBody>
      </p:sp>
      <p:pic>
        <p:nvPicPr>
          <p:cNvPr id="7" name="shot" descr="C:\Users\arif.asiroglu\Traffic_Intelligence\procedural-istanbul\docs\sunum\img\zincirlikuyu.jpg">    </p:cNvPr>
          <p:cNvPicPr>
            <a:picLocks noChangeAspect="1"/>
          </p:cNvPicPr>
          <p:nvPr/>
        </p:nvPicPr>
        <p:blipFill>
          <a:blip r:embed="rId3"/>
          <a:srcRect l="0" r="0" t="0" b="0"/>
          <a:stretch/>
        </p:blipFill>
        <p:spPr>
          <a:xfrm>
            <a:off x="8046720" y="1325880"/>
            <a:ext cx="3520440" cy="3886200"/>
          </a:xfrm>
          <a:prstGeom prst="rect">
            <a:avLst/>
          </a:prstGeom>
        </p:spPr>
      </p:pic>
      <p:sp>
        <p:nvSpPr>
          <p:cNvPr id="8" name="Text 3"/>
          <p:cNvSpPr txBox="1"/>
          <p:nvPr/>
        </p:nvSpPr>
        <p:spPr>
          <a:xfrm>
            <a:off x="8046720" y="5257800"/>
            <a:ext cx="3520440" cy="320040"/>
          </a:xfrm>
          <a:prstGeom prst="rect">
            <a:avLst/>
          </a:prstGeom>
          <a:noFill/>
          <a:ln/>
        </p:spPr>
        <p:txBody>
          <a:bodyPr wrap="square" lIns="0" tIns="0" rIns="0" bIns="0" rtlCol="0" anchor="ctr"/>
          <a:lstStyle/>
          <a:p>
            <a:pPr indent="0" marL="0">
              <a:buNone/>
            </a:pPr>
            <a:r>
              <a:rPr lang="en-US" sz="1300" dirty="0">
                <a:solidFill>
                  <a:srgbClr val="8A94A6"/>
                </a:solidFill>
              </a:rPr>
              <a:t>Zincirlikuyu junction</a:t>
            </a:r>
            <a:endParaRPr lang="en-US" sz="1300" dirty="0"/>
          </a:p>
        </p:txBody>
      </p:sp>
      <p:sp>
        <p:nvSpPr>
          <p:cNvPr id="9" name="Text 4"/>
          <p:cNvSpPr txBox="1"/>
          <p:nvPr/>
        </p:nvSpPr>
        <p:spPr>
          <a:xfrm>
            <a:off x="548640" y="5760720"/>
            <a:ext cx="10972800" cy="411480"/>
          </a:xfrm>
          <a:prstGeom prst="rect">
            <a:avLst/>
          </a:prstGeom>
          <a:noFill/>
          <a:ln/>
        </p:spPr>
        <p:txBody>
          <a:bodyPr wrap="square" lIns="0" tIns="0" rIns="0" bIns="0" rtlCol="0" anchor="ctr"/>
          <a:lstStyle/>
          <a:p>
            <a:pPr indent="0" marL="0">
              <a:buNone/>
            </a:pPr>
            <a:r>
              <a:rPr lang="en-US" sz="1600" b="1" dirty="0">
                <a:solidFill>
                  <a:schemeClr val="tx2"/>
                </a:solidFill>
              </a:rPr>
              <a:t>38,000 buildings · 1,170 km of roads · runs in a web browser · roads coloured by live İBB speeds</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Step 2 · Work backwards from speeds to trips</a:t>
            </a:r>
            <a:endParaRPr lang="en-US" sz="3400" dirty="0"/>
          </a:p>
        </p:txBody>
      </p:sp>
      <p:pic>
        <p:nvPicPr>
          <p:cNvPr id="3" name="zones-map" descr="C:\Users\arif.asiroglu\Traffic_Intelligence\procedural-istanbul\docs\sunum\img\koridor-harita-en.png">    </p:cNvPr>
          <p:cNvPicPr>
            <a:picLocks noChangeAspect="1"/>
          </p:cNvPicPr>
          <p:nvPr/>
        </p:nvPicPr>
        <p:blipFill>
          <a:blip r:embed="rId1"/>
          <a:srcRect l="0" r="0" t="0" b="0"/>
          <a:stretch/>
        </p:blipFill>
        <p:spPr>
          <a:xfrm>
            <a:off x="548640" y="1280160"/>
            <a:ext cx="4526280" cy="5029200"/>
          </a:xfrm>
          <a:prstGeom prst="rect">
            <a:avLst/>
          </a:prstGeom>
        </p:spPr>
      </p:pic>
      <p:sp>
        <p:nvSpPr>
          <p:cNvPr id="4" name="icon-circle"/>
          <p:cNvSpPr/>
          <p:nvPr/>
        </p:nvSpPr>
        <p:spPr>
          <a:xfrm>
            <a:off x="5486400" y="1417320"/>
            <a:ext cx="566928" cy="566928"/>
          </a:xfrm>
          <a:prstGeom prst="ellipse">
            <a:avLst/>
          </a:prstGeom>
          <a:solidFill>
            <a:srgbClr val="1F7A8C"/>
          </a:solidFill>
          <a:ln w="12700">
            <a:solidFill>
              <a:srgbClr val="1F7A8C"/>
            </a:solidFill>
            <a:prstDash val="solid"/>
          </a:ln>
        </p:spPr>
      </p:sp>
      <p:pic>
        <p:nvPicPr>
          <p:cNvPr id="5" name="icon" descr="preencoded.png">    </p:cNvPr>
          <p:cNvPicPr>
            <a:picLocks noChangeAspect="1"/>
          </p:cNvPicPr>
          <p:nvPr/>
        </p:nvPicPr>
        <p:blipFill>
          <a:blip r:embed="rId2"/>
          <a:stretch>
            <a:fillRect/>
          </a:stretch>
        </p:blipFill>
        <p:spPr>
          <a:xfrm>
            <a:off x="5628132" y="1559052"/>
            <a:ext cx="283464" cy="283464"/>
          </a:xfrm>
          <a:prstGeom prst="rect">
            <a:avLst/>
          </a:prstGeom>
        </p:spPr>
      </p:pic>
      <p:sp>
        <p:nvSpPr>
          <p:cNvPr id="6" name="Text 2"/>
          <p:cNvSpPr txBox="1"/>
          <p:nvPr/>
        </p:nvSpPr>
        <p:spPr>
          <a:xfrm>
            <a:off x="6217920" y="1371600"/>
            <a:ext cx="5394960" cy="365760"/>
          </a:xfrm>
          <a:prstGeom prst="rect">
            <a:avLst/>
          </a:prstGeom>
          <a:noFill/>
          <a:ln/>
        </p:spPr>
        <p:txBody>
          <a:bodyPr wrap="square" lIns="0" tIns="0" rIns="0" bIns="0" rtlCol="0" anchor="ctr"/>
          <a:lstStyle/>
          <a:p>
            <a:pPr indent="0" marL="0">
              <a:buNone/>
            </a:pPr>
            <a:r>
              <a:rPr lang="en-US" sz="1800" b="1" dirty="0">
                <a:solidFill>
                  <a:schemeClr val="tx1"/>
                </a:solidFill>
              </a:rPr>
              <a:t>95 areas</a:t>
            </a:r>
            <a:endParaRPr lang="en-US" sz="1800" dirty="0"/>
          </a:p>
        </p:txBody>
      </p:sp>
      <p:sp>
        <p:nvSpPr>
          <p:cNvPr id="7" name="Text 3"/>
          <p:cNvSpPr txBox="1"/>
          <p:nvPr/>
        </p:nvSpPr>
        <p:spPr>
          <a:xfrm>
            <a:off x="6217920" y="1755648"/>
            <a:ext cx="5394960" cy="731520"/>
          </a:xfrm>
          <a:prstGeom prst="rect">
            <a:avLst/>
          </a:prstGeom>
          <a:noFill/>
          <a:ln/>
        </p:spPr>
        <p:txBody>
          <a:bodyPr wrap="square" lIns="0" tIns="0" rIns="0" bIns="0" rtlCol="0" anchor="t"/>
          <a:lstStyle/>
          <a:p>
            <a:pPr indent="0" marL="0">
              <a:buNone/>
            </a:pPr>
            <a:r>
              <a:rPr lang="en-US" sz="1400" dirty="0">
                <a:solidFill>
                  <a:schemeClr val="tx2"/>
                </a:solidFill>
              </a:rPr>
              <a:t>75 hexagons inside the corridor and 20 “gates” where big roads cross its edge, like the bridge</a:t>
            </a:r>
            <a:endParaRPr lang="en-US" sz="1400" dirty="0"/>
          </a:p>
        </p:txBody>
      </p:sp>
      <p:sp>
        <p:nvSpPr>
          <p:cNvPr id="8" name="icon-circle"/>
          <p:cNvSpPr/>
          <p:nvPr/>
        </p:nvSpPr>
        <p:spPr>
          <a:xfrm>
            <a:off x="5486400" y="2624328"/>
            <a:ext cx="566928" cy="566928"/>
          </a:xfrm>
          <a:prstGeom prst="ellipse">
            <a:avLst/>
          </a:prstGeom>
          <a:solidFill>
            <a:srgbClr val="1F7A8C"/>
          </a:solidFill>
          <a:ln w="12700">
            <a:solidFill>
              <a:srgbClr val="1F7A8C"/>
            </a:solidFill>
            <a:prstDash val="solid"/>
          </a:ln>
        </p:spPr>
      </p:sp>
      <p:pic>
        <p:nvPicPr>
          <p:cNvPr id="9" name="icon" descr="preencoded.png">    </p:cNvPr>
          <p:cNvPicPr>
            <a:picLocks noChangeAspect="1"/>
          </p:cNvPicPr>
          <p:nvPr/>
        </p:nvPicPr>
        <p:blipFill>
          <a:blip r:embed="rId3"/>
          <a:stretch>
            <a:fillRect/>
          </a:stretch>
        </p:blipFill>
        <p:spPr>
          <a:xfrm>
            <a:off x="5628132" y="2766060"/>
            <a:ext cx="283464" cy="283464"/>
          </a:xfrm>
          <a:prstGeom prst="rect">
            <a:avLst/>
          </a:prstGeom>
        </p:spPr>
      </p:pic>
      <p:sp>
        <p:nvSpPr>
          <p:cNvPr id="10" name="Text 5"/>
          <p:cNvSpPr txBox="1"/>
          <p:nvPr/>
        </p:nvSpPr>
        <p:spPr>
          <a:xfrm>
            <a:off x="6217920" y="2578608"/>
            <a:ext cx="5394960" cy="365760"/>
          </a:xfrm>
          <a:prstGeom prst="rect">
            <a:avLst/>
          </a:prstGeom>
          <a:noFill/>
          <a:ln/>
        </p:spPr>
        <p:txBody>
          <a:bodyPr wrap="square" lIns="0" tIns="0" rIns="0" bIns="0" rtlCol="0" anchor="ctr"/>
          <a:lstStyle/>
          <a:p>
            <a:pPr indent="0" marL="0">
              <a:buNone/>
            </a:pPr>
            <a:r>
              <a:rPr lang="en-US" sz="1800" b="1" dirty="0">
                <a:solidFill>
                  <a:schemeClr val="tx1"/>
                </a:solidFill>
              </a:rPr>
              <a:t>9,025 possible trips</a:t>
            </a:r>
            <a:endParaRPr lang="en-US" sz="1800" dirty="0"/>
          </a:p>
        </p:txBody>
      </p:sp>
      <p:sp>
        <p:nvSpPr>
          <p:cNvPr id="11" name="Text 6"/>
          <p:cNvSpPr txBox="1"/>
          <p:nvPr/>
        </p:nvSpPr>
        <p:spPr>
          <a:xfrm>
            <a:off x="6217920" y="2962656"/>
            <a:ext cx="5394960" cy="731520"/>
          </a:xfrm>
          <a:prstGeom prst="rect">
            <a:avLst/>
          </a:prstGeom>
          <a:noFill/>
          <a:ln/>
        </p:spPr>
        <p:txBody>
          <a:bodyPr wrap="square" lIns="0" tIns="0" rIns="0" bIns="0" rtlCol="0" anchor="t"/>
          <a:lstStyle/>
          <a:p>
            <a:pPr indent="0" marL="0">
              <a:buNone/>
            </a:pPr>
            <a:r>
              <a:rPr lang="en-US" sz="1400" dirty="0">
                <a:solidFill>
                  <a:schemeClr val="tx2"/>
                </a:solidFill>
              </a:rPr>
              <a:t>every area to every other area; far more unknowns than measurements</a:t>
            </a:r>
            <a:endParaRPr lang="en-US" sz="1400" dirty="0"/>
          </a:p>
        </p:txBody>
      </p:sp>
      <p:sp>
        <p:nvSpPr>
          <p:cNvPr id="12" name="icon-circle"/>
          <p:cNvSpPr/>
          <p:nvPr/>
        </p:nvSpPr>
        <p:spPr>
          <a:xfrm>
            <a:off x="5486400" y="3831336"/>
            <a:ext cx="566928" cy="566928"/>
          </a:xfrm>
          <a:prstGeom prst="ellipse">
            <a:avLst/>
          </a:prstGeom>
          <a:solidFill>
            <a:srgbClr val="1F7A8C"/>
          </a:solidFill>
          <a:ln w="12700">
            <a:solidFill>
              <a:srgbClr val="1F7A8C"/>
            </a:solidFill>
            <a:prstDash val="solid"/>
          </a:ln>
        </p:spPr>
      </p:sp>
      <p:pic>
        <p:nvPicPr>
          <p:cNvPr id="13" name="icon" descr="preencoded.png">    </p:cNvPr>
          <p:cNvPicPr>
            <a:picLocks noChangeAspect="1"/>
          </p:cNvPicPr>
          <p:nvPr/>
        </p:nvPicPr>
        <p:blipFill>
          <a:blip r:embed="rId4"/>
          <a:stretch>
            <a:fillRect/>
          </a:stretch>
        </p:blipFill>
        <p:spPr>
          <a:xfrm>
            <a:off x="5628132" y="3973068"/>
            <a:ext cx="283464" cy="283464"/>
          </a:xfrm>
          <a:prstGeom prst="rect">
            <a:avLst/>
          </a:prstGeom>
        </p:spPr>
      </p:pic>
      <p:sp>
        <p:nvSpPr>
          <p:cNvPr id="14" name="Text 8"/>
          <p:cNvSpPr txBox="1"/>
          <p:nvPr/>
        </p:nvSpPr>
        <p:spPr>
          <a:xfrm>
            <a:off x="6217920" y="3785616"/>
            <a:ext cx="5394960" cy="365760"/>
          </a:xfrm>
          <a:prstGeom prst="rect">
            <a:avLst/>
          </a:prstGeom>
          <a:noFill/>
          <a:ln/>
        </p:spPr>
        <p:txBody>
          <a:bodyPr wrap="square" lIns="0" tIns="0" rIns="0" bIns="0" rtlCol="0" anchor="ctr"/>
          <a:lstStyle/>
          <a:p>
            <a:pPr indent="0" marL="0">
              <a:buNone/>
            </a:pPr>
            <a:r>
              <a:rPr lang="en-US" sz="1800" b="1" dirty="0">
                <a:solidFill>
                  <a:schemeClr val="tx1"/>
                </a:solidFill>
              </a:rPr>
              <a:t>A first guess</a:t>
            </a:r>
            <a:endParaRPr lang="en-US" sz="1800" dirty="0"/>
          </a:p>
        </p:txBody>
      </p:sp>
      <p:sp>
        <p:nvSpPr>
          <p:cNvPr id="15" name="Text 9"/>
          <p:cNvSpPr txBox="1"/>
          <p:nvPr/>
        </p:nvSpPr>
        <p:spPr>
          <a:xfrm>
            <a:off x="6217920" y="4169664"/>
            <a:ext cx="5394960" cy="731520"/>
          </a:xfrm>
          <a:prstGeom prst="rect">
            <a:avLst/>
          </a:prstGeom>
          <a:noFill/>
          <a:ln/>
        </p:spPr>
        <p:txBody>
          <a:bodyPr wrap="square" lIns="0" tIns="0" rIns="0" bIns="0" rtlCol="0" anchor="t"/>
          <a:lstStyle/>
          <a:p>
            <a:pPr indent="0" marL="0">
              <a:buNone/>
            </a:pPr>
            <a:r>
              <a:rPr lang="en-US" sz="1400" dirty="0">
                <a:solidFill>
                  <a:schemeClr val="tx2"/>
                </a:solidFill>
              </a:rPr>
              <a:t>from buildings and shops: “this area sends out so many cars”</a:t>
            </a:r>
            <a:endParaRPr lang="en-US" sz="1400" dirty="0"/>
          </a:p>
        </p:txBody>
      </p:sp>
      <p:sp>
        <p:nvSpPr>
          <p:cNvPr id="16" name="icon-circle"/>
          <p:cNvSpPr/>
          <p:nvPr/>
        </p:nvSpPr>
        <p:spPr>
          <a:xfrm>
            <a:off x="5486400" y="5038344"/>
            <a:ext cx="566928" cy="566928"/>
          </a:xfrm>
          <a:prstGeom prst="ellipse">
            <a:avLst/>
          </a:prstGeom>
          <a:solidFill>
            <a:srgbClr val="1F7A8C"/>
          </a:solidFill>
          <a:ln w="12700">
            <a:solidFill>
              <a:srgbClr val="1F7A8C"/>
            </a:solidFill>
            <a:prstDash val="solid"/>
          </a:ln>
        </p:spPr>
      </p:sp>
      <p:pic>
        <p:nvPicPr>
          <p:cNvPr id="17" name="icon" descr="preencoded.png">    </p:cNvPr>
          <p:cNvPicPr>
            <a:picLocks noChangeAspect="1"/>
          </p:cNvPicPr>
          <p:nvPr/>
        </p:nvPicPr>
        <p:blipFill>
          <a:blip r:embed="rId5"/>
          <a:stretch>
            <a:fillRect/>
          </a:stretch>
        </p:blipFill>
        <p:spPr>
          <a:xfrm>
            <a:off x="5628132" y="5180076"/>
            <a:ext cx="283464" cy="283464"/>
          </a:xfrm>
          <a:prstGeom prst="rect">
            <a:avLst/>
          </a:prstGeom>
        </p:spPr>
      </p:pic>
      <p:sp>
        <p:nvSpPr>
          <p:cNvPr id="18" name="Text 11"/>
          <p:cNvSpPr txBox="1"/>
          <p:nvPr/>
        </p:nvSpPr>
        <p:spPr>
          <a:xfrm>
            <a:off x="6217920" y="4992624"/>
            <a:ext cx="5394960" cy="365760"/>
          </a:xfrm>
          <a:prstGeom prst="rect">
            <a:avLst/>
          </a:prstGeom>
          <a:noFill/>
          <a:ln/>
        </p:spPr>
        <p:txBody>
          <a:bodyPr wrap="square" lIns="0" tIns="0" rIns="0" bIns="0" rtlCol="0" anchor="ctr"/>
          <a:lstStyle/>
          <a:p>
            <a:pPr indent="0" marL="0">
              <a:buNone/>
            </a:pPr>
            <a:r>
              <a:rPr lang="en-US" sz="1800" b="1" dirty="0">
                <a:solidFill>
                  <a:schemeClr val="tx1"/>
                </a:solidFill>
              </a:rPr>
              <a:t>Then the data corrects it</a:t>
            </a:r>
            <a:endParaRPr lang="en-US" sz="1800" dirty="0"/>
          </a:p>
        </p:txBody>
      </p:sp>
      <p:sp>
        <p:nvSpPr>
          <p:cNvPr id="19" name="Text 12"/>
          <p:cNvSpPr txBox="1"/>
          <p:nvPr/>
        </p:nvSpPr>
        <p:spPr>
          <a:xfrm>
            <a:off x="6217920" y="5376672"/>
            <a:ext cx="5394960" cy="731520"/>
          </a:xfrm>
          <a:prstGeom prst="rect">
            <a:avLst/>
          </a:prstGeom>
          <a:noFill/>
          <a:ln/>
        </p:spPr>
        <p:txBody>
          <a:bodyPr wrap="square" lIns="0" tIns="0" rIns="0" bIns="0" rtlCol="0" anchor="t"/>
          <a:lstStyle/>
          <a:p>
            <a:pPr indent="0" marL="0">
              <a:buNone/>
            </a:pPr>
            <a:r>
              <a:rPr lang="en-US" sz="1400" dirty="0">
                <a:solidFill>
                  <a:schemeClr val="tx2"/>
                </a:solidFill>
              </a:rPr>
              <a:t>and for every number we report how much came from data and how much from the guess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Key finding: our first guess was 3 times too high</a:t>
            </a:r>
            <a:endParaRPr lang="en-US" sz="3400" dirty="0"/>
          </a:p>
        </p:txBody>
      </p:sp>
      <p:sp>
        <p:nvSpPr>
          <p:cNvPr id="3" name="Text 1"/>
          <p:cNvSpPr txBox="1"/>
          <p:nvPr/>
        </p:nvSpPr>
        <p:spPr>
          <a:xfrm>
            <a:off x="548640" y="1371600"/>
            <a:ext cx="3017520" cy="1463040"/>
          </a:xfrm>
          <a:prstGeom prst="rect">
            <a:avLst/>
          </a:prstGeom>
          <a:noFill/>
          <a:ln/>
        </p:spPr>
        <p:txBody>
          <a:bodyPr wrap="square" lIns="0" tIns="0" rIns="0" bIns="0" rtlCol="0" anchor="ctr"/>
          <a:lstStyle/>
          <a:p>
            <a:pPr indent="0" marL="0">
              <a:buNone/>
            </a:pPr>
            <a:r>
              <a:rPr lang="en-US" sz="9600" b="1" dirty="0">
                <a:solidFill>
                  <a:schemeClr val="accent4"/>
                </a:solidFill>
              </a:rPr>
              <a:t>3×</a:t>
            </a:r>
            <a:endParaRPr lang="en-US" sz="9600" dirty="0"/>
          </a:p>
        </p:txBody>
      </p:sp>
      <p:sp>
        <p:nvSpPr>
          <p:cNvPr id="4" name="Text 2"/>
          <p:cNvSpPr txBox="1"/>
          <p:nvPr/>
        </p:nvSpPr>
        <p:spPr>
          <a:xfrm>
            <a:off x="548640" y="2880360"/>
            <a:ext cx="3840480" cy="822960"/>
          </a:xfrm>
          <a:prstGeom prst="rect">
            <a:avLst/>
          </a:prstGeom>
          <a:noFill/>
          <a:ln/>
        </p:spPr>
        <p:txBody>
          <a:bodyPr wrap="square" lIns="0" tIns="0" rIns="0" bIns="0" rtlCol="0" anchor="t"/>
          <a:lstStyle/>
          <a:p>
            <a:pPr indent="0" marL="0">
              <a:buNone/>
            </a:pPr>
            <a:r>
              <a:rPr lang="en-US" sz="1800" dirty="0">
                <a:solidFill>
                  <a:schemeClr val="tx1"/>
                </a:solidFill>
              </a:rPr>
              <a:t>too many cars in the first guess, built only from buildings</a:t>
            </a:r>
            <a:endParaRPr lang="en-US" sz="1800" dirty="0"/>
          </a:p>
        </p:txBody>
      </p:sp>
      <p:sp>
        <p:nvSpPr>
          <p:cNvPr id="5" name="Text 3"/>
          <p:cNvSpPr txBox="1"/>
          <p:nvPr/>
        </p:nvSpPr>
        <p:spPr>
          <a:xfrm>
            <a:off x="548640" y="3840480"/>
            <a:ext cx="4206240" cy="2103120"/>
          </a:xfrm>
          <a:prstGeom prst="rect">
            <a:avLst/>
          </a:prstGeom>
          <a:noFill/>
          <a:ln/>
        </p:spPr>
        <p:txBody>
          <a:bodyPr wrap="square" lIns="0" tIns="0" rIns="0" bIns="0" rtlCol="0" anchor="t"/>
          <a:lstStyle/>
          <a:p>
            <a:pPr indent="0" marL="0">
              <a:buNone/>
            </a:pPr>
            <a:r>
              <a:rPr lang="en-US" sz="1500" dirty="0">
                <a:solidFill>
                  <a:schemeClr val="tx2"/>
                </a:solidFill>
              </a:rPr>
              <a:t>When we fed the first guess into the simulator, the whole network locked up. The counts showed why: the city was simply too full of imaginary cars. Now the total comes from measurements, and we can say so with 81 % of it backed by data.</a:t>
            </a:r>
            <a:endParaRPr lang="en-US" sz="1500" dirty="0"/>
          </a:p>
        </p:txBody>
      </p:sp>
      <p:graphicFrame>
        <p:nvGraphicFramePr>
          <p:cNvPr id="6" name="Chart 0" descr=""/>
          <p:cNvGraphicFramePr/>
          <p:nvPr/>
        </p:nvGraphicFramePr>
        <p:xfrm>
          <a:off x="5120640" y="1280160"/>
          <a:ext cx="649224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Checking honestly: hide the answer, then predict it</a:t>
            </a:r>
            <a:endParaRPr lang="en-US" sz="3400" dirty="0"/>
          </a:p>
        </p:txBody>
      </p:sp>
      <p:sp>
        <p:nvSpPr>
          <p:cNvPr id="3" name="icon-circle"/>
          <p:cNvSpPr/>
          <p:nvPr/>
        </p:nvSpPr>
        <p:spPr>
          <a:xfrm>
            <a:off x="548640" y="1463040"/>
            <a:ext cx="914400" cy="914400"/>
          </a:xfrm>
          <a:prstGeom prst="ellipse">
            <a:avLst/>
          </a:prstGeom>
          <a:solidFill>
            <a:srgbClr val="E8963D"/>
          </a:solidFill>
          <a:ln w="12700">
            <a:solidFill>
              <a:srgbClr val="E8963D"/>
            </a:solidFill>
            <a:prstDash val="solid"/>
          </a:ln>
        </p:spPr>
      </p:sp>
      <p:pic>
        <p:nvPicPr>
          <p:cNvPr id="4" name="icon" descr="preencoded.png">    </p:cNvPr>
          <p:cNvPicPr>
            <a:picLocks noChangeAspect="1"/>
          </p:cNvPicPr>
          <p:nvPr/>
        </p:nvPicPr>
        <p:blipFill>
          <a:blip r:embed="rId1"/>
          <a:stretch>
            <a:fillRect/>
          </a:stretch>
        </p:blipFill>
        <p:spPr>
          <a:xfrm>
            <a:off x="777240" y="1691640"/>
            <a:ext cx="457200" cy="457200"/>
          </a:xfrm>
          <a:prstGeom prst="rect">
            <a:avLst/>
          </a:prstGeom>
        </p:spPr>
      </p:pic>
      <p:sp>
        <p:nvSpPr>
          <p:cNvPr id="5" name="Text 2"/>
          <p:cNvSpPr txBox="1"/>
          <p:nvPr/>
        </p:nvSpPr>
        <p:spPr>
          <a:xfrm>
            <a:off x="1691640" y="1463040"/>
            <a:ext cx="4572000" cy="457200"/>
          </a:xfrm>
          <a:prstGeom prst="rect">
            <a:avLst/>
          </a:prstGeom>
          <a:noFill/>
          <a:ln/>
        </p:spPr>
        <p:txBody>
          <a:bodyPr wrap="square" lIns="0" tIns="0" rIns="0" bIns="0" rtlCol="0" anchor="ctr"/>
          <a:lstStyle/>
          <a:p>
            <a:pPr indent="0" marL="0">
              <a:buNone/>
            </a:pPr>
            <a:r>
              <a:rPr lang="en-US" sz="2000" b="1" dirty="0">
                <a:solidFill>
                  <a:schemeClr val="tx1"/>
                </a:solidFill>
              </a:rPr>
              <a:t>Like an exam you have not seen</a:t>
            </a:r>
            <a:endParaRPr lang="en-US" sz="2000" dirty="0"/>
          </a:p>
        </p:txBody>
      </p:sp>
      <p:sp>
        <p:nvSpPr>
          <p:cNvPr id="6" name="Text 3"/>
          <p:cNvSpPr txBox="1"/>
          <p:nvPr/>
        </p:nvSpPr>
        <p:spPr>
          <a:xfrm>
            <a:off x="1691640" y="1920240"/>
            <a:ext cx="4572000" cy="1280160"/>
          </a:xfrm>
          <a:prstGeom prst="rect">
            <a:avLst/>
          </a:prstGeom>
          <a:noFill/>
          <a:ln/>
        </p:spPr>
        <p:txBody>
          <a:bodyPr wrap="square" lIns="0" tIns="0" rIns="0" bIns="0" rtlCol="0" anchor="t"/>
          <a:lstStyle/>
          <a:p>
            <a:pPr indent="0" marL="0">
              <a:buNone/>
            </a:pPr>
            <a:r>
              <a:rPr lang="en-US" sz="1500" dirty="0">
                <a:solidFill>
                  <a:schemeClr val="tx2"/>
                </a:solidFill>
              </a:rPr>
              <a:t>We hide one car counter, build the model without it, predict that counter, and compare with the real number. Then we repeat for every counter.</a:t>
            </a:r>
            <a:endParaRPr lang="en-US" sz="1500" dirty="0"/>
          </a:p>
        </p:txBody>
      </p:sp>
      <p:sp>
        <p:nvSpPr>
          <p:cNvPr id="7" name="Text 4"/>
          <p:cNvSpPr txBox="1"/>
          <p:nvPr/>
        </p:nvSpPr>
        <p:spPr>
          <a:xfrm>
            <a:off x="1691640" y="3246120"/>
            <a:ext cx="4572000" cy="914400"/>
          </a:xfrm>
          <a:prstGeom prst="rect">
            <a:avLst/>
          </a:prstGeom>
          <a:noFill/>
          <a:ln/>
        </p:spPr>
        <p:txBody>
          <a:bodyPr wrap="square" lIns="0" tIns="0" rIns="0" bIns="0" rtlCol="0" anchor="t"/>
          <a:lstStyle/>
          <a:p>
            <a:pPr indent="0" marL="0">
              <a:buNone/>
            </a:pPr>
            <a:r>
              <a:rPr lang="en-US" sz="1500" dirty="0">
                <a:solidFill>
                  <a:schemeClr val="tx2"/>
                </a:solidFill>
              </a:rPr>
              <a:t>The score is called GEH: below 5 is a good match. The usual target is below 5 on 85 % of counters.</a:t>
            </a:r>
            <a:endParaRPr lang="en-US" sz="1500" dirty="0"/>
          </a:p>
        </p:txBody>
      </p:sp>
      <p:sp>
        <p:nvSpPr>
          <p:cNvPr id="8" name="honest"/>
          <p:cNvSpPr/>
          <p:nvPr/>
        </p:nvSpPr>
        <p:spPr>
          <a:xfrm>
            <a:off x="548640" y="4434840"/>
            <a:ext cx="5715000" cy="1508760"/>
          </a:xfrm>
          <a:prstGeom prst="roundRect">
            <a:avLst>
              <a:gd name="adj" fmla="val 9091"/>
            </a:avLst>
          </a:prstGeom>
          <a:solidFill>
            <a:schemeClr val="bg2"/>
          </a:solidFill>
          <a:ln w="12700">
            <a:solidFill>
              <a:schemeClr val="bg2"/>
            </a:solidFill>
            <a:prstDash val="solid"/>
          </a:ln>
        </p:spPr>
      </p:sp>
      <p:sp>
        <p:nvSpPr>
          <p:cNvPr id="9" name="Text 6"/>
          <p:cNvSpPr txBox="1"/>
          <p:nvPr/>
        </p:nvSpPr>
        <p:spPr>
          <a:xfrm>
            <a:off x="777240" y="4572000"/>
            <a:ext cx="5303520" cy="1234440"/>
          </a:xfrm>
          <a:prstGeom prst="rect">
            <a:avLst/>
          </a:prstGeom>
          <a:noFill/>
          <a:ln/>
        </p:spPr>
        <p:txBody>
          <a:bodyPr wrap="square" lIns="0" tIns="0" rIns="0" bIns="0" rtlCol="0" anchor="ctr"/>
          <a:lstStyle/>
          <a:p>
            <a:pPr indent="0" marL="0">
              <a:buNone/>
            </a:pPr>
            <a:r>
              <a:rPr lang="en-US" sz="1500" b="1" dirty="0">
                <a:solidFill>
                  <a:schemeClr val="accent4"/>
                </a:solidFill>
              </a:rPr>
              <a:t>Honest result: </a:t>
            </a:r>
            <a:pPr indent="0" marL="0">
              <a:buNone/>
            </a:pPr>
            <a:r>
              <a:rPr lang="en-US" sz="1500" dirty="0">
                <a:solidFill>
                  <a:schemeClr val="tx1"/>
                </a:solidFill>
              </a:rPr>
              <a:t>the total is right, but where the cars go is not yet right. Only about 1 counter in 10 is predicted well. We report this openly.</a:t>
            </a:r>
            <a:endParaRPr lang="en-US" sz="1500" dirty="0"/>
          </a:p>
        </p:txBody>
      </p:sp>
      <p:graphicFrame>
        <p:nvGraphicFramePr>
          <p:cNvPr id="10" name="Chart 0" descr=""/>
          <p:cNvGraphicFramePr/>
          <p:nvPr/>
        </p:nvGraphicFramePr>
        <p:xfrm>
          <a:off x="6583680" y="1280160"/>
          <a:ext cx="5029200" cy="48463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What if the motorway closes? Ask the simulator first</a:t>
            </a:r>
            <a:endParaRPr lang="en-US" sz="3400" dirty="0"/>
          </a:p>
        </p:txBody>
      </p:sp>
      <p:sp>
        <p:nvSpPr>
          <p:cNvPr id="3" name="Text 1"/>
          <p:cNvSpPr txBox="1"/>
          <p:nvPr/>
        </p:nvSpPr>
        <p:spPr>
          <a:xfrm>
            <a:off x="548640" y="1325880"/>
            <a:ext cx="4754880" cy="1280160"/>
          </a:xfrm>
          <a:prstGeom prst="rect">
            <a:avLst/>
          </a:prstGeom>
          <a:noFill/>
          <a:ln/>
        </p:spPr>
        <p:txBody>
          <a:bodyPr wrap="square" lIns="0" tIns="0" rIns="0" bIns="0" rtlCol="0" anchor="t"/>
          <a:lstStyle/>
          <a:p>
            <a:pPr indent="0" marL="0">
              <a:buNone/>
            </a:pPr>
            <a:r>
              <a:rPr lang="en-US" sz="1600" dirty="0">
                <a:solidFill>
                  <a:schemeClr val="tx1"/>
                </a:solidFill>
              </a:rPr>
              <a:t>At the moment of an accident we take a “snapshot” of all traffic, then play several futures from the same snapshot, much faster than real time.</a:t>
            </a:r>
            <a:endParaRPr lang="en-US" sz="1600" dirty="0"/>
          </a:p>
        </p:txBody>
      </p:sp>
      <p:sp>
        <p:nvSpPr>
          <p:cNvPr id="4" name="icon-circle"/>
          <p:cNvSpPr/>
          <p:nvPr/>
        </p:nvSpPr>
        <p:spPr>
          <a:xfrm>
            <a:off x="548640" y="2743200"/>
            <a:ext cx="640080" cy="640080"/>
          </a:xfrm>
          <a:prstGeom prst="ellipse">
            <a:avLst/>
          </a:prstGeom>
          <a:solidFill>
            <a:srgbClr val="8A94A6"/>
          </a:solidFill>
          <a:ln w="12700">
            <a:solidFill>
              <a:srgbClr val="8A94A6"/>
            </a:solidFill>
            <a:prstDash val="solid"/>
          </a:ln>
        </p:spPr>
      </p:sp>
      <p:pic>
        <p:nvPicPr>
          <p:cNvPr id="5" name="icon" descr="preencoded.png">    </p:cNvPr>
          <p:cNvPicPr>
            <a:picLocks noChangeAspect="1"/>
          </p:cNvPicPr>
          <p:nvPr/>
        </p:nvPicPr>
        <p:blipFill>
          <a:blip r:embed="rId1"/>
          <a:stretch>
            <a:fillRect/>
          </a:stretch>
        </p:blipFill>
        <p:spPr>
          <a:xfrm>
            <a:off x="708660" y="2903220"/>
            <a:ext cx="320040" cy="320040"/>
          </a:xfrm>
          <a:prstGeom prst="rect">
            <a:avLst/>
          </a:prstGeom>
        </p:spPr>
      </p:pic>
      <p:sp>
        <p:nvSpPr>
          <p:cNvPr id="6" name="Text 3"/>
          <p:cNvSpPr txBox="1"/>
          <p:nvPr/>
        </p:nvSpPr>
        <p:spPr>
          <a:xfrm>
            <a:off x="1371600" y="2743200"/>
            <a:ext cx="3931920" cy="347472"/>
          </a:xfrm>
          <a:prstGeom prst="rect">
            <a:avLst/>
          </a:prstGeom>
          <a:noFill/>
          <a:ln/>
        </p:spPr>
        <p:txBody>
          <a:bodyPr wrap="square" lIns="0" tIns="0" rIns="0" bIns="0" rtlCol="0" anchor="ctr"/>
          <a:lstStyle/>
          <a:p>
            <a:pPr indent="0" marL="0">
              <a:buNone/>
            </a:pPr>
            <a:r>
              <a:rPr lang="en-US" sz="1600" b="1" dirty="0">
                <a:solidFill>
                  <a:schemeClr val="tx1"/>
                </a:solidFill>
              </a:rPr>
              <a:t>Road stays open</a:t>
            </a:r>
            <a:endParaRPr lang="en-US" sz="1600" dirty="0"/>
          </a:p>
        </p:txBody>
      </p:sp>
      <p:sp>
        <p:nvSpPr>
          <p:cNvPr id="7" name="Text 4"/>
          <p:cNvSpPr txBox="1"/>
          <p:nvPr/>
        </p:nvSpPr>
        <p:spPr>
          <a:xfrm>
            <a:off x="1371600" y="3072384"/>
            <a:ext cx="3931920" cy="310896"/>
          </a:xfrm>
          <a:prstGeom prst="rect">
            <a:avLst/>
          </a:prstGeom>
          <a:noFill/>
          <a:ln/>
        </p:spPr>
        <p:txBody>
          <a:bodyPr wrap="square" lIns="0" tIns="0" rIns="0" bIns="0" rtlCol="0" anchor="ctr"/>
          <a:lstStyle/>
          <a:p>
            <a:pPr indent="0" marL="0">
              <a:buNone/>
            </a:pPr>
            <a:r>
              <a:rPr lang="en-US" sz="1300" dirty="0">
                <a:solidFill>
                  <a:schemeClr val="tx2"/>
                </a:solidFill>
              </a:rPr>
              <a:t>the reference</a:t>
            </a:r>
            <a:endParaRPr lang="en-US" sz="1300" dirty="0"/>
          </a:p>
        </p:txBody>
      </p:sp>
      <p:sp>
        <p:nvSpPr>
          <p:cNvPr id="8" name="icon-circle"/>
          <p:cNvSpPr/>
          <p:nvPr/>
        </p:nvSpPr>
        <p:spPr>
          <a:xfrm>
            <a:off x="548640" y="3639312"/>
            <a:ext cx="640080" cy="640080"/>
          </a:xfrm>
          <a:prstGeom prst="ellipse">
            <a:avLst/>
          </a:prstGeom>
          <a:solidFill>
            <a:srgbClr val="D9534F"/>
          </a:solidFill>
          <a:ln w="12700">
            <a:solidFill>
              <a:srgbClr val="D9534F"/>
            </a:solidFill>
            <a:prstDash val="solid"/>
          </a:ln>
        </p:spPr>
      </p:sp>
      <p:pic>
        <p:nvPicPr>
          <p:cNvPr id="9" name="icon" descr="preencoded.png">    </p:cNvPr>
          <p:cNvPicPr>
            <a:picLocks noChangeAspect="1"/>
          </p:cNvPicPr>
          <p:nvPr/>
        </p:nvPicPr>
        <p:blipFill>
          <a:blip r:embed="rId2"/>
          <a:stretch>
            <a:fillRect/>
          </a:stretch>
        </p:blipFill>
        <p:spPr>
          <a:xfrm>
            <a:off x="708660" y="3799332"/>
            <a:ext cx="320040" cy="320040"/>
          </a:xfrm>
          <a:prstGeom prst="rect">
            <a:avLst/>
          </a:prstGeom>
        </p:spPr>
      </p:pic>
      <p:sp>
        <p:nvSpPr>
          <p:cNvPr id="10" name="Text 6"/>
          <p:cNvSpPr txBox="1"/>
          <p:nvPr/>
        </p:nvSpPr>
        <p:spPr>
          <a:xfrm>
            <a:off x="1371600" y="3639312"/>
            <a:ext cx="3931920" cy="347472"/>
          </a:xfrm>
          <a:prstGeom prst="rect">
            <a:avLst/>
          </a:prstGeom>
          <a:noFill/>
          <a:ln/>
        </p:spPr>
        <p:txBody>
          <a:bodyPr wrap="square" lIns="0" tIns="0" rIns="0" bIns="0" rtlCol="0" anchor="ctr"/>
          <a:lstStyle/>
          <a:p>
            <a:pPr indent="0" marL="0">
              <a:buNone/>
            </a:pPr>
            <a:r>
              <a:rPr lang="en-US" sz="1600" b="1" dirty="0">
                <a:solidFill>
                  <a:schemeClr val="tx1"/>
                </a:solidFill>
              </a:rPr>
              <a:t>Drivers not told</a:t>
            </a:r>
            <a:endParaRPr lang="en-US" sz="1600" dirty="0"/>
          </a:p>
        </p:txBody>
      </p:sp>
      <p:sp>
        <p:nvSpPr>
          <p:cNvPr id="11" name="Text 7"/>
          <p:cNvSpPr txBox="1"/>
          <p:nvPr/>
        </p:nvSpPr>
        <p:spPr>
          <a:xfrm>
            <a:off x="1371600" y="3968496"/>
            <a:ext cx="3931920" cy="310896"/>
          </a:xfrm>
          <a:prstGeom prst="rect">
            <a:avLst/>
          </a:prstGeom>
          <a:noFill/>
          <a:ln/>
        </p:spPr>
        <p:txBody>
          <a:bodyPr wrap="square" lIns="0" tIns="0" rIns="0" bIns="0" rtlCol="0" anchor="ctr"/>
          <a:lstStyle/>
          <a:p>
            <a:pPr indent="0" marL="0">
              <a:buNone/>
            </a:pPr>
            <a:r>
              <a:rPr lang="en-US" sz="1300" dirty="0">
                <a:solidFill>
                  <a:schemeClr val="tx2"/>
                </a:solidFill>
              </a:rPr>
              <a:t>they find out at the closure</a:t>
            </a:r>
            <a:endParaRPr lang="en-US" sz="1300" dirty="0"/>
          </a:p>
        </p:txBody>
      </p:sp>
      <p:sp>
        <p:nvSpPr>
          <p:cNvPr id="12" name="icon-circle"/>
          <p:cNvSpPr/>
          <p:nvPr/>
        </p:nvSpPr>
        <p:spPr>
          <a:xfrm>
            <a:off x="548640" y="4535424"/>
            <a:ext cx="640080" cy="640080"/>
          </a:xfrm>
          <a:prstGeom prst="ellipse">
            <a:avLst/>
          </a:prstGeom>
          <a:solidFill>
            <a:srgbClr val="2E9E6B"/>
          </a:solidFill>
          <a:ln w="12700">
            <a:solidFill>
              <a:srgbClr val="2E9E6B"/>
            </a:solidFill>
            <a:prstDash val="solid"/>
          </a:ln>
        </p:spPr>
      </p:sp>
      <p:pic>
        <p:nvPicPr>
          <p:cNvPr id="13" name="icon" descr="preencoded.png">    </p:cNvPr>
          <p:cNvPicPr>
            <a:picLocks noChangeAspect="1"/>
          </p:cNvPicPr>
          <p:nvPr/>
        </p:nvPicPr>
        <p:blipFill>
          <a:blip r:embed="rId3"/>
          <a:stretch>
            <a:fillRect/>
          </a:stretch>
        </p:blipFill>
        <p:spPr>
          <a:xfrm>
            <a:off x="708660" y="4695444"/>
            <a:ext cx="320040" cy="320040"/>
          </a:xfrm>
          <a:prstGeom prst="rect">
            <a:avLst/>
          </a:prstGeom>
        </p:spPr>
      </p:pic>
      <p:sp>
        <p:nvSpPr>
          <p:cNvPr id="14" name="Text 9"/>
          <p:cNvSpPr txBox="1"/>
          <p:nvPr/>
        </p:nvSpPr>
        <p:spPr>
          <a:xfrm>
            <a:off x="1371600" y="4535424"/>
            <a:ext cx="3931920" cy="347472"/>
          </a:xfrm>
          <a:prstGeom prst="rect">
            <a:avLst/>
          </a:prstGeom>
          <a:noFill/>
          <a:ln/>
        </p:spPr>
        <p:txBody>
          <a:bodyPr wrap="square" lIns="0" tIns="0" rIns="0" bIns="0" rtlCol="0" anchor="ctr"/>
          <a:lstStyle/>
          <a:p>
            <a:pPr indent="0" marL="0">
              <a:buNone/>
            </a:pPr>
            <a:r>
              <a:rPr lang="en-US" sz="1600" b="1" dirty="0">
                <a:solidFill>
                  <a:schemeClr val="tx1"/>
                </a:solidFill>
              </a:rPr>
              <a:t>Drivers warned at once</a:t>
            </a:r>
            <a:endParaRPr lang="en-US" sz="1600" dirty="0"/>
          </a:p>
        </p:txBody>
      </p:sp>
      <p:sp>
        <p:nvSpPr>
          <p:cNvPr id="15" name="Text 10"/>
          <p:cNvSpPr txBox="1"/>
          <p:nvPr/>
        </p:nvSpPr>
        <p:spPr>
          <a:xfrm>
            <a:off x="1371600" y="4864608"/>
            <a:ext cx="3931920" cy="310896"/>
          </a:xfrm>
          <a:prstGeom prst="rect">
            <a:avLst/>
          </a:prstGeom>
          <a:noFill/>
          <a:ln/>
        </p:spPr>
        <p:txBody>
          <a:bodyPr wrap="square" lIns="0" tIns="0" rIns="0" bIns="0" rtlCol="0" anchor="ctr"/>
          <a:lstStyle/>
          <a:p>
            <a:pPr indent="0" marL="0">
              <a:buNone/>
            </a:pPr>
            <a:r>
              <a:rPr lang="en-US" sz="1300" dirty="0">
                <a:solidFill>
                  <a:schemeClr val="tx2"/>
                </a:solidFill>
              </a:rPr>
              <a:t>signs and navigation apps</a:t>
            </a:r>
            <a:endParaRPr lang="en-US" sz="1300" dirty="0"/>
          </a:p>
        </p:txBody>
      </p:sp>
      <p:graphicFrame>
        <p:nvGraphicFramePr>
          <p:cNvPr id="16" name="Chart 0" descr=""/>
          <p:cNvGraphicFramePr/>
          <p:nvPr/>
        </p:nvGraphicFramePr>
        <p:xfrm>
          <a:off x="5669280" y="1280160"/>
          <a:ext cx="5943600" cy="4023360"/>
        </p:xfrm>
        <a:graphic xmlns:a="http://schemas.openxmlformats.org/drawingml/2006/main">
          <a:graphicData uri="http://schemas.openxmlformats.org/drawingml/2006/chart">
            <c:chart xmlns:c="http://schemas.openxmlformats.org/drawingml/2006/chart" r:id="rId4"/>
          </a:graphicData>
        </a:graphic>
      </p:graphicFrame>
      <p:sp>
        <p:nvSpPr>
          <p:cNvPr id="17" name="verdict"/>
          <p:cNvSpPr/>
          <p:nvPr/>
        </p:nvSpPr>
        <p:spPr>
          <a:xfrm>
            <a:off x="5669280" y="5440680"/>
            <a:ext cx="5943600" cy="868680"/>
          </a:xfrm>
          <a:prstGeom prst="roundRect">
            <a:avLst>
              <a:gd name="adj" fmla="val 15789"/>
            </a:avLst>
          </a:prstGeom>
          <a:solidFill>
            <a:schemeClr val="bg2"/>
          </a:solidFill>
          <a:ln w="12700">
            <a:solidFill>
              <a:schemeClr val="bg2"/>
            </a:solidFill>
            <a:prstDash val="solid"/>
          </a:ln>
        </p:spPr>
      </p:sp>
      <p:sp>
        <p:nvSpPr>
          <p:cNvPr id="18" name="Text 12"/>
          <p:cNvSpPr txBox="1"/>
          <p:nvPr/>
        </p:nvSpPr>
        <p:spPr>
          <a:xfrm>
            <a:off x="5852160" y="5486400"/>
            <a:ext cx="5623560" cy="777240"/>
          </a:xfrm>
          <a:prstGeom prst="rect">
            <a:avLst/>
          </a:prstGeom>
          <a:noFill/>
          <a:ln/>
        </p:spPr>
        <p:txBody>
          <a:bodyPr wrap="square" lIns="0" tIns="0" rIns="0" bIns="0" rtlCol="0" anchor="ctr"/>
          <a:lstStyle/>
          <a:p>
            <a:pPr indent="0" marL="0">
              <a:buNone/>
            </a:pPr>
            <a:r>
              <a:rPr lang="en-US" sz="1400" b="1" dirty="0">
                <a:solidFill>
                  <a:schemeClr val="accent3"/>
                </a:solidFill>
              </a:rPr>
              <a:t>Answer: warn drivers at once. </a:t>
            </a:r>
            <a:pPr indent="0" marL="0">
              <a:buNone/>
            </a:pPr>
            <a:r>
              <a:rPr lang="en-US" sz="1400" dirty="0">
                <a:solidFill>
                  <a:schemeClr val="tx1"/>
                </a:solidFill>
              </a:rPr>
              <a:t>+735 cars get through compared with not telling them. All runs took about 9 minutes.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Where we are: what works and what does not yet</a:t>
            </a:r>
            <a:endParaRPr lang="en-US" sz="3400" dirty="0"/>
          </a:p>
        </p:txBody>
      </p:sp>
      <p:sp>
        <p:nvSpPr>
          <p:cNvPr id="3" name="works"/>
          <p:cNvSpPr/>
          <p:nvPr/>
        </p:nvSpPr>
        <p:spPr>
          <a:xfrm>
            <a:off x="548640" y="1325880"/>
            <a:ext cx="5394960" cy="3749040"/>
          </a:xfrm>
          <a:prstGeom prst="roundRect">
            <a:avLst>
              <a:gd name="adj" fmla="val 3659"/>
            </a:avLst>
          </a:prstGeom>
          <a:solidFill>
            <a:schemeClr val="bg2"/>
          </a:solidFill>
          <a:ln w="12700">
            <a:solidFill>
              <a:schemeClr val="bg2"/>
            </a:solidFill>
            <a:prstDash val="solid"/>
          </a:ln>
        </p:spPr>
      </p:sp>
      <p:sp>
        <p:nvSpPr>
          <p:cNvPr id="4" name="icon-circle"/>
          <p:cNvSpPr/>
          <p:nvPr/>
        </p:nvSpPr>
        <p:spPr>
          <a:xfrm>
            <a:off x="822960" y="1554480"/>
            <a:ext cx="594360" cy="594360"/>
          </a:xfrm>
          <a:prstGeom prst="ellipse">
            <a:avLst/>
          </a:prstGeom>
          <a:solidFill>
            <a:srgbClr val="2E9E6B"/>
          </a:solidFill>
          <a:ln w="12700">
            <a:solidFill>
              <a:srgbClr val="2E9E6B"/>
            </a:solidFill>
            <a:prstDash val="solid"/>
          </a:ln>
        </p:spPr>
      </p:sp>
      <p:pic>
        <p:nvPicPr>
          <p:cNvPr id="5" name="icon" descr="preencoded.png">    </p:cNvPr>
          <p:cNvPicPr>
            <a:picLocks noChangeAspect="1"/>
          </p:cNvPicPr>
          <p:nvPr/>
        </p:nvPicPr>
        <p:blipFill>
          <a:blip r:embed="rId1"/>
          <a:stretch>
            <a:fillRect/>
          </a:stretch>
        </p:blipFill>
        <p:spPr>
          <a:xfrm>
            <a:off x="971550" y="1703070"/>
            <a:ext cx="297180" cy="297180"/>
          </a:xfrm>
          <a:prstGeom prst="rect">
            <a:avLst/>
          </a:prstGeom>
        </p:spPr>
      </p:pic>
      <p:sp>
        <p:nvSpPr>
          <p:cNvPr id="6" name="Text 3"/>
          <p:cNvSpPr txBox="1"/>
          <p:nvPr/>
        </p:nvSpPr>
        <p:spPr>
          <a:xfrm>
            <a:off x="1554480" y="1600200"/>
            <a:ext cx="3657600" cy="502920"/>
          </a:xfrm>
          <a:prstGeom prst="rect">
            <a:avLst/>
          </a:prstGeom>
          <a:noFill/>
          <a:ln/>
        </p:spPr>
        <p:txBody>
          <a:bodyPr wrap="square" lIns="0" tIns="0" rIns="0" bIns="0" rtlCol="0" anchor="ctr"/>
          <a:lstStyle/>
          <a:p>
            <a:pPr indent="0" marL="0">
              <a:buNone/>
            </a:pPr>
            <a:r>
              <a:rPr lang="en-US" sz="2200" b="1" dirty="0">
                <a:solidFill>
                  <a:schemeClr val="accent3"/>
                </a:solidFill>
              </a:rPr>
              <a:t>Works</a:t>
            </a:r>
            <a:endParaRPr lang="en-US" sz="2200" dirty="0"/>
          </a:p>
        </p:txBody>
      </p:sp>
      <p:sp>
        <p:nvSpPr>
          <p:cNvPr id="7" name="Text 4"/>
          <p:cNvSpPr txBox="1"/>
          <p:nvPr/>
        </p:nvSpPr>
        <p:spPr>
          <a:xfrm>
            <a:off x="822960" y="2331720"/>
            <a:ext cx="493776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3D city with live İBB speeds, in the browser</a:t>
            </a:r>
            <a:endParaRPr lang="en-US" sz="1600" dirty="0"/>
          </a:p>
          <a:p>
            <a:pPr marL="342900" indent="-342900">
              <a:spcAft>
                <a:spcPts val="1000"/>
              </a:spcAft>
              <a:buSzPct val="100000"/>
              <a:buChar char="•"/>
            </a:pPr>
            <a:r>
              <a:rPr lang="en-US" sz="1600" dirty="0">
                <a:solidFill>
                  <a:schemeClr val="tx1"/>
                </a:solidFill>
              </a:rPr>
              <a:t>Total traffic level set by real counts</a:t>
            </a:r>
            <a:endParaRPr lang="en-US" sz="1600" dirty="0"/>
          </a:p>
          <a:p>
            <a:pPr marL="342900" indent="-342900">
              <a:spcAft>
                <a:spcPts val="1000"/>
              </a:spcAft>
              <a:buSzPct val="100000"/>
              <a:buChar char="•"/>
            </a:pPr>
            <a:r>
              <a:rPr lang="en-US" sz="1600" dirty="0">
                <a:solidFill>
                  <a:schemeClr val="tx1"/>
                </a:solidFill>
              </a:rPr>
              <a:t>Honest checks on hidden counters</a:t>
            </a:r>
            <a:endParaRPr lang="en-US" sz="1600" dirty="0"/>
          </a:p>
          <a:p>
            <a:pPr marL="342900" indent="-342900">
              <a:spcAft>
                <a:spcPts val="1000"/>
              </a:spcAft>
              <a:buSzPct val="100000"/>
              <a:buChar char="•"/>
            </a:pPr>
            <a:r>
              <a:rPr lang="en-US" sz="1600" dirty="0">
                <a:solidFill>
                  <a:schemeClr val="tx1"/>
                </a:solidFill>
              </a:rPr>
              <a:t>“What if” simulator for accidents</a:t>
            </a:r>
            <a:endParaRPr lang="en-US" sz="1600" dirty="0"/>
          </a:p>
          <a:p>
            <a:pPr marL="342900" indent="-342900">
              <a:spcAft>
                <a:spcPts val="1000"/>
              </a:spcAft>
              <a:buSzPct val="100000"/>
              <a:buChar char="•"/>
            </a:pPr>
            <a:r>
              <a:rPr lang="en-US" sz="1600" dirty="0">
                <a:solidFill>
                  <a:schemeClr val="tx1"/>
                </a:solidFill>
              </a:rPr>
              <a:t>Recommendations panel built on real data</a:t>
            </a:r>
            <a:endParaRPr lang="en-US" sz="1600" dirty="0"/>
          </a:p>
        </p:txBody>
      </p:sp>
      <p:sp>
        <p:nvSpPr>
          <p:cNvPr id="8" name="not-yet"/>
          <p:cNvSpPr/>
          <p:nvPr/>
        </p:nvSpPr>
        <p:spPr>
          <a:xfrm>
            <a:off x="6263640" y="1325880"/>
            <a:ext cx="5394960" cy="3749040"/>
          </a:xfrm>
          <a:prstGeom prst="roundRect">
            <a:avLst>
              <a:gd name="adj" fmla="val 3659"/>
            </a:avLst>
          </a:prstGeom>
          <a:solidFill>
            <a:schemeClr val="bg2"/>
          </a:solidFill>
          <a:ln w="12700">
            <a:solidFill>
              <a:schemeClr val="bg2"/>
            </a:solidFill>
            <a:prstDash val="solid"/>
          </a:ln>
        </p:spPr>
      </p:sp>
      <p:sp>
        <p:nvSpPr>
          <p:cNvPr id="9" name="icon-circle"/>
          <p:cNvSpPr/>
          <p:nvPr/>
        </p:nvSpPr>
        <p:spPr>
          <a:xfrm>
            <a:off x="6537960" y="1554480"/>
            <a:ext cx="594360" cy="594360"/>
          </a:xfrm>
          <a:prstGeom prst="ellipse">
            <a:avLst/>
          </a:prstGeom>
          <a:solidFill>
            <a:srgbClr val="E8963D"/>
          </a:solidFill>
          <a:ln w="12700">
            <a:solidFill>
              <a:srgbClr val="E8963D"/>
            </a:solidFill>
            <a:prstDash val="solid"/>
          </a:ln>
        </p:spPr>
      </p:sp>
      <p:pic>
        <p:nvPicPr>
          <p:cNvPr id="10" name="icon" descr="preencoded.png">    </p:cNvPr>
          <p:cNvPicPr>
            <a:picLocks noChangeAspect="1"/>
          </p:cNvPicPr>
          <p:nvPr/>
        </p:nvPicPr>
        <p:blipFill>
          <a:blip r:embed="rId2"/>
          <a:stretch>
            <a:fillRect/>
          </a:stretch>
        </p:blipFill>
        <p:spPr>
          <a:xfrm>
            <a:off x="6686550" y="1703070"/>
            <a:ext cx="297180" cy="297180"/>
          </a:xfrm>
          <a:prstGeom prst="rect">
            <a:avLst/>
          </a:prstGeom>
        </p:spPr>
      </p:pic>
      <p:sp>
        <p:nvSpPr>
          <p:cNvPr id="11" name="Text 7"/>
          <p:cNvSpPr txBox="1"/>
          <p:nvPr/>
        </p:nvSpPr>
        <p:spPr>
          <a:xfrm>
            <a:off x="7269480" y="1600200"/>
            <a:ext cx="3657600" cy="502920"/>
          </a:xfrm>
          <a:prstGeom prst="rect">
            <a:avLst/>
          </a:prstGeom>
          <a:noFill/>
          <a:ln/>
        </p:spPr>
        <p:txBody>
          <a:bodyPr wrap="square" lIns="0" tIns="0" rIns="0" bIns="0" rtlCol="0" anchor="ctr"/>
          <a:lstStyle/>
          <a:p>
            <a:pPr indent="0" marL="0">
              <a:buNone/>
            </a:pPr>
            <a:r>
              <a:rPr lang="en-US" sz="2200" b="1" dirty="0">
                <a:solidFill>
                  <a:schemeClr val="accent1"/>
                </a:solidFill>
              </a:rPr>
              <a:t>Not yet</a:t>
            </a:r>
            <a:endParaRPr lang="en-US" sz="2200" dirty="0"/>
          </a:p>
        </p:txBody>
      </p:sp>
      <p:sp>
        <p:nvSpPr>
          <p:cNvPr id="12" name="Text 8"/>
          <p:cNvSpPr txBox="1"/>
          <p:nvPr/>
        </p:nvSpPr>
        <p:spPr>
          <a:xfrm>
            <a:off x="6537960" y="2331720"/>
            <a:ext cx="493776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Where the cars go: only 1 counter in 10 predicted well</a:t>
            </a:r>
            <a:endParaRPr lang="en-US" sz="1600" dirty="0"/>
          </a:p>
          <a:p>
            <a:pPr marL="342900" indent="-342900">
              <a:spcAft>
                <a:spcPts val="1000"/>
              </a:spcAft>
              <a:buSzPct val="100000"/>
              <a:buChar char="•"/>
            </a:pPr>
            <a:r>
              <a:rPr lang="en-US" sz="1600" dirty="0">
                <a:solidFill>
                  <a:schemeClr val="tx1"/>
                </a:solidFill>
              </a:rPr>
              <a:t>Some counters may count one direction only: İBB must confirm</a:t>
            </a:r>
            <a:endParaRPr lang="en-US" sz="1600" dirty="0"/>
          </a:p>
          <a:p>
            <a:pPr marL="342900" indent="-342900">
              <a:spcAft>
                <a:spcPts val="1000"/>
              </a:spcAft>
              <a:buSzPct val="100000"/>
              <a:buChar char="•"/>
            </a:pPr>
            <a:r>
              <a:rPr lang="en-US" sz="1600" dirty="0">
                <a:solidFill>
                  <a:schemeClr val="tx1"/>
                </a:solidFill>
              </a:rPr>
              <a:t>Only one hour of one day so far</a:t>
            </a:r>
            <a:endParaRPr lang="en-US" sz="1600" dirty="0"/>
          </a:p>
          <a:p>
            <a:pPr marL="342900" indent="-342900">
              <a:spcAft>
                <a:spcPts val="1000"/>
              </a:spcAft>
              <a:buSzPct val="100000"/>
              <a:buChar char="•"/>
            </a:pPr>
            <a:r>
              <a:rPr lang="en-US" sz="1600" dirty="0">
                <a:solidFill>
                  <a:schemeClr val="tx1"/>
                </a:solidFill>
              </a:rPr>
              <a:t>Fast AI version: first try failed our own check</a:t>
            </a:r>
            <a:endParaRPr lang="en-US" sz="1600" dirty="0"/>
          </a:p>
        </p:txBody>
      </p:sp>
      <p:sp>
        <p:nvSpPr>
          <p:cNvPr id="13" name="Text 9"/>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600" i="1" dirty="0">
                <a:solidFill>
                  <a:schemeClr val="tx2"/>
                </a:solidFill>
              </a:rPr>
              <a:t>Next: more days and hours, confirm the counters with İBB, and train the fast AI version on simulator runs.</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chemeClr val="tx1"/>
                </a:solidFill>
              </a:rPr>
              <a:t>Try it yourself</a:t>
            </a:r>
            <a:endParaRPr lang="en-US" sz="3400" dirty="0"/>
          </a:p>
        </p:txBody>
      </p:sp>
      <p:sp>
        <p:nvSpPr>
          <p:cNvPr id="3" name="qr-card"/>
          <p:cNvSpPr/>
          <p:nvPr/>
        </p:nvSpPr>
        <p:spPr>
          <a:xfrm>
            <a:off x="1463040" y="1371600"/>
            <a:ext cx="4206240" cy="4572000"/>
          </a:xfrm>
          <a:prstGeom prst="roundRect">
            <a:avLst>
              <a:gd name="adj" fmla="val 3261"/>
            </a:avLst>
          </a:prstGeom>
          <a:solidFill>
            <a:schemeClr val="bg2"/>
          </a:solidFill>
          <a:ln w="12700">
            <a:solidFill>
              <a:schemeClr val="bg2"/>
            </a:solidFill>
            <a:prstDash val="solid"/>
          </a:ln>
        </p:spPr>
      </p:sp>
      <p:pic>
        <p:nvPicPr>
          <p:cNvPr id="4" name="qr" descr="C:\Users\arif.asiroglu\AppData\Local\Temp\claude\C--Users-arif-asiroglu-Traffic-Intelligence\5c2796c9-d62b-4927-99f5-a4916ca8f74d\scratchpad\deck\qr_app.png">    </p:cNvPr>
          <p:cNvPicPr>
            <a:picLocks noChangeAspect="1"/>
          </p:cNvPicPr>
          <p:nvPr/>
        </p:nvPicPr>
        <p:blipFill>
          <a:blip r:embed="rId1"/>
          <a:stretch>
            <a:fillRect/>
          </a:stretch>
        </p:blipFill>
        <p:spPr>
          <a:xfrm>
            <a:off x="2423160" y="1645920"/>
            <a:ext cx="2286000" cy="2286000"/>
          </a:xfrm>
          <a:prstGeom prst="rect">
            <a:avLst/>
          </a:prstGeom>
        </p:spPr>
      </p:pic>
      <p:sp>
        <p:nvSpPr>
          <p:cNvPr id="5" name="Text 2"/>
          <p:cNvSpPr txBox="1"/>
          <p:nvPr/>
        </p:nvSpPr>
        <p:spPr>
          <a:xfrm>
            <a:off x="1737360" y="4160520"/>
            <a:ext cx="3657600" cy="502920"/>
          </a:xfrm>
          <a:prstGeom prst="rect">
            <a:avLst/>
          </a:prstGeom>
          <a:noFill/>
          <a:ln/>
        </p:spPr>
        <p:txBody>
          <a:bodyPr wrap="square" lIns="0" tIns="0" rIns="0" bIns="0" rtlCol="0" anchor="ctr"/>
          <a:lstStyle/>
          <a:p>
            <a:pPr algn="ctr" indent="0" marL="0">
              <a:buNone/>
            </a:pPr>
            <a:r>
              <a:rPr lang="en-US" sz="2000" b="1" dirty="0">
                <a:solidFill>
                  <a:schemeClr val="tx1"/>
                </a:solidFill>
              </a:rPr>
              <a:t>The live 3D twin</a:t>
            </a:r>
            <a:endParaRPr lang="en-US" sz="2000" dirty="0"/>
          </a:p>
        </p:txBody>
      </p:sp>
      <p:sp>
        <p:nvSpPr>
          <p:cNvPr id="6" name="Text 3"/>
          <p:cNvSpPr txBox="1"/>
          <p:nvPr/>
        </p:nvSpPr>
        <p:spPr>
          <a:xfrm>
            <a:off x="1737360" y="4709160"/>
            <a:ext cx="3657600" cy="731520"/>
          </a:xfrm>
          <a:prstGeom prst="rect">
            <a:avLst/>
          </a:prstGeom>
          <a:noFill/>
          <a:ln/>
        </p:spPr>
        <p:txBody>
          <a:bodyPr wrap="square" lIns="0" tIns="0" rIns="0" bIns="0" rtlCol="0" anchor="t"/>
          <a:lstStyle/>
          <a:p>
            <a:pPr algn="ctr" indent="0" marL="0">
              <a:buNone/>
            </a:pPr>
            <a:r>
              <a:rPr lang="en-US" sz="1400" dirty="0">
                <a:solidFill>
                  <a:schemeClr val="accent2"/>
                </a:solidFill>
              </a:rPr>
              <a:t>aaasiroglu.github.io/procedural-istanbul/app</a:t>
            </a:r>
            <a:endParaRPr lang="en-US" sz="1400" dirty="0"/>
          </a:p>
        </p:txBody>
      </p:sp>
      <p:sp>
        <p:nvSpPr>
          <p:cNvPr id="7" name="qr-card"/>
          <p:cNvSpPr/>
          <p:nvPr/>
        </p:nvSpPr>
        <p:spPr>
          <a:xfrm>
            <a:off x="6583680" y="1371600"/>
            <a:ext cx="4206240" cy="4572000"/>
          </a:xfrm>
          <a:prstGeom prst="roundRect">
            <a:avLst>
              <a:gd name="adj" fmla="val 3261"/>
            </a:avLst>
          </a:prstGeom>
          <a:solidFill>
            <a:schemeClr val="bg2"/>
          </a:solidFill>
          <a:ln w="12700">
            <a:solidFill>
              <a:schemeClr val="bg2"/>
            </a:solidFill>
            <a:prstDash val="solid"/>
          </a:ln>
        </p:spPr>
      </p:sp>
      <p:pic>
        <p:nvPicPr>
          <p:cNvPr id="8" name="qr" descr="C:\Users\arif.asiroglu\AppData\Local\Temp\claude\C--Users-arif-asiroglu-Traffic-Intelligence\5c2796c9-d62b-4927-99f5-a4916ca8f74d\scratchpad\deck\qr_site.png">    </p:cNvPr>
          <p:cNvPicPr>
            <a:picLocks noChangeAspect="1"/>
          </p:cNvPicPr>
          <p:nvPr/>
        </p:nvPicPr>
        <p:blipFill>
          <a:blip r:embed="rId2"/>
          <a:stretch>
            <a:fillRect/>
          </a:stretch>
        </p:blipFill>
        <p:spPr>
          <a:xfrm>
            <a:off x="7543800" y="1645920"/>
            <a:ext cx="2286000" cy="2286000"/>
          </a:xfrm>
          <a:prstGeom prst="rect">
            <a:avLst/>
          </a:prstGeom>
        </p:spPr>
      </p:pic>
      <p:sp>
        <p:nvSpPr>
          <p:cNvPr id="9" name="Text 5"/>
          <p:cNvSpPr txBox="1"/>
          <p:nvPr/>
        </p:nvSpPr>
        <p:spPr>
          <a:xfrm>
            <a:off x="6858000" y="4160520"/>
            <a:ext cx="3657600" cy="502920"/>
          </a:xfrm>
          <a:prstGeom prst="rect">
            <a:avLst/>
          </a:prstGeom>
          <a:noFill/>
          <a:ln/>
        </p:spPr>
        <p:txBody>
          <a:bodyPr wrap="square" lIns="0" tIns="0" rIns="0" bIns="0" rtlCol="0" anchor="ctr"/>
          <a:lstStyle/>
          <a:p>
            <a:pPr algn="ctr" indent="0" marL="0">
              <a:buNone/>
            </a:pPr>
            <a:r>
              <a:rPr lang="en-US" sz="2000" b="1" dirty="0">
                <a:solidFill>
                  <a:schemeClr val="tx1"/>
                </a:solidFill>
              </a:rPr>
              <a:t>Project site, report and slides</a:t>
            </a:r>
            <a:endParaRPr lang="en-US" sz="2000" dirty="0"/>
          </a:p>
        </p:txBody>
      </p:sp>
      <p:sp>
        <p:nvSpPr>
          <p:cNvPr id="10" name="Text 6"/>
          <p:cNvSpPr txBox="1"/>
          <p:nvPr/>
        </p:nvSpPr>
        <p:spPr>
          <a:xfrm>
            <a:off x="6858000" y="4709160"/>
            <a:ext cx="3657600" cy="731520"/>
          </a:xfrm>
          <a:prstGeom prst="rect">
            <a:avLst/>
          </a:prstGeom>
          <a:noFill/>
          <a:ln/>
        </p:spPr>
        <p:txBody>
          <a:bodyPr wrap="square" lIns="0" tIns="0" rIns="0" bIns="0" rtlCol="0" anchor="t"/>
          <a:lstStyle/>
          <a:p>
            <a:pPr algn="ctr" indent="0" marL="0">
              <a:buNone/>
            </a:pPr>
            <a:r>
              <a:rPr lang="en-US" sz="1400" dirty="0">
                <a:solidFill>
                  <a:schemeClr val="accent2"/>
                </a:solidFill>
              </a:rPr>
              <a:t>aaasiroglu.github.io/procedural-istanbul</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011680"/>
            <a:ext cx="10972800" cy="1188720"/>
          </a:xfrm>
          <a:prstGeom prst="rect">
            <a:avLst/>
          </a:prstGeom>
          <a:noFill/>
          <a:ln/>
        </p:spPr>
        <p:txBody>
          <a:bodyPr wrap="square" lIns="0" tIns="0" rIns="0" bIns="0" rtlCol="0" anchor="ctr"/>
          <a:lstStyle/>
          <a:p>
            <a:pPr indent="0" marL="0">
              <a:buNone/>
            </a:pPr>
            <a:r>
              <a:rPr lang="en-US" sz="6000" b="1" dirty="0">
                <a:solidFill>
                  <a:srgbClr val="FFFFFF"/>
                </a:solidFill>
              </a:rPr>
              <a:t>Thank you</a:t>
            </a:r>
            <a:endParaRPr lang="en-US" sz="6000" dirty="0"/>
          </a:p>
        </p:txBody>
      </p:sp>
      <p:sp>
        <p:nvSpPr>
          <p:cNvPr id="3" name="Text 1"/>
          <p:cNvSpPr txBox="1"/>
          <p:nvPr/>
        </p:nvSpPr>
        <p:spPr>
          <a:xfrm>
            <a:off x="548640" y="3200400"/>
            <a:ext cx="10972800" cy="731520"/>
          </a:xfrm>
          <a:prstGeom prst="rect">
            <a:avLst/>
          </a:prstGeom>
          <a:noFill/>
          <a:ln/>
        </p:spPr>
        <p:txBody>
          <a:bodyPr wrap="square" lIns="0" tIns="0" rIns="0" bIns="0" rtlCol="0" anchor="ctr"/>
          <a:lstStyle/>
          <a:p>
            <a:pPr indent="0" marL="0">
              <a:buNone/>
            </a:pPr>
            <a:r>
              <a:rPr lang="en-US" sz="3200" dirty="0">
                <a:solidFill>
                  <a:srgbClr val="E8963D"/>
                </a:solidFill>
              </a:rPr>
              <a:t>Questions?</a:t>
            </a:r>
            <a:endParaRPr lang="en-US" sz="3200" dirty="0"/>
          </a:p>
        </p:txBody>
      </p:sp>
      <p:sp>
        <p:nvSpPr>
          <p:cNvPr id="4" name="Text 2"/>
          <p:cNvSpPr txBox="1"/>
          <p:nvPr/>
        </p:nvSpPr>
        <p:spPr>
          <a:xfrm>
            <a:off x="548640" y="4572000"/>
            <a:ext cx="10515600" cy="822960"/>
          </a:xfrm>
          <a:prstGeom prst="rect">
            <a:avLst/>
          </a:prstGeom>
          <a:noFill/>
          <a:ln/>
        </p:spPr>
        <p:txBody>
          <a:bodyPr wrap="square" lIns="0" tIns="0" rIns="0" bIns="0" rtlCol="0" anchor="ctr"/>
          <a:lstStyle/>
          <a:p>
            <a:pPr indent="0" marL="0">
              <a:buNone/>
            </a:pPr>
            <a:r>
              <a:rPr lang="en-US" sz="2000" i="1" dirty="0">
                <a:solidFill>
                  <a:srgbClr val="D6E2F0"/>
                </a:solidFill>
              </a:rPr>
              <a:t>One idea to remember: a speed tells you “at most” or “at least”, never an exact number of cars.</a:t>
            </a:r>
            <a:endParaRPr lang="en-US" sz="2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Bosphorus Dusk">
  <a:themeElements>
    <a:clrScheme name="Bosphorus Dusk">
      <a:dk1>
        <a:srgbClr val="14213D"/>
      </a:dk1>
      <a:lt1>
        <a:srgbClr val="FFFFFF"/>
      </a:lt1>
      <a:dk2>
        <a:srgbClr val="0B3C5D"/>
      </a:dk2>
      <a:lt2>
        <a:srgbClr val="EEF3F8"/>
      </a:lt2>
      <a:accent1>
        <a:srgbClr val="E8963D"/>
      </a:accent1>
      <a:accent2>
        <a:srgbClr val="1F7A8C"/>
      </a:accent2>
      <a:accent3>
        <a:srgbClr val="2E9E6B"/>
      </a:accent3>
      <a:accent4>
        <a:srgbClr val="D9534F"/>
      </a:accent4>
      <a:accent5>
        <a:srgbClr val="8A94A6"/>
      </a:accent5>
      <a:accent6>
        <a:srgbClr val="F2C14E"/>
      </a:accent6>
      <a:hlink>
        <a:srgbClr val="1F7A8C"/>
      </a:hlink>
      <a:folHlink>
        <a:srgbClr val="0B3C5D"/>
      </a:folHlink>
    </a:clrScheme>
    <a:fontScheme name="Bosphorus Du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Istanbul: reading a city's traffic from road speeds</dc:title>
  <dc:subject>PptxGenJS Presentation</dc:subject>
  <dc:creator>Abdurrahim Arif Aşıroğlu</dc:creator>
  <cp:lastModifiedBy>Abdurrahim Arif Aşıroğlu</cp:lastModifiedBy>
  <cp:revision>1</cp:revision>
  <dcterms:created xsi:type="dcterms:W3CDTF">2026-10-20T05:54:52Z</dcterms:created>
  <dcterms:modified xsi:type="dcterms:W3CDTF">2026-10-20T05:54:52Z</dcterms:modified>
</cp:coreProperties>
</file>