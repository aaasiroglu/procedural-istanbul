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fd9189e-f17b-5731-939e-001e329f7a9a}">
          <p14:sldIdLst>
            <p14:sldId id="256"/>
            <p14:sldId id="257"/>
            <p14:sldId id="258"/>
          </p14:sldIdLst>
        </p14:section>
        <p14:section name="The idea" id="{f27f8d17-1b48-cbda-1fdc-46704a8218c1}">
          <p14:sldIdLst>
            <p14:sldId id="259"/>
            <p14:sldId id="260"/>
          </p14:sldIdLst>
        </p14:section>
        <p14:section name="How it works" id="{415f8719-7d86-895e-3237-e254317a7e0f}">
          <p14:sldIdLst>
            <p14:sldId id="261"/>
            <p14:sldId id="262"/>
          </p14:sldIdLst>
        </p14:section>
        <p14:section name="Results" id="{20129d2c-87b1-a854-c34f-4173e7fce8f6}">
          <p14:sldIdLst>
            <p14:sldId id="263"/>
            <p14:sldId id="264"/>
            <p14:sldId id="265"/>
            <p14:sldId id="266"/>
          </p14:sldIdLst>
        </p14:section>
        <p14:section name="Wrap-up" id="{be72e639-45dc-984d-2d66-df136bc02b2b}">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213D"/>
                </a:solidFill>
                <a:latin typeface="+mn-lt"/>
              </a:defRPr>
            </a:pPr>
            <a:r>
              <a:rPr sz="1600" b="0" i="0" u="none" strike="noStrike">
                <a:solidFill>
                  <a:srgbClr val="14213D"/>
                </a:solidFill>
                <a:latin typeface="+mn-lt"/>
              </a:rPr>
              <a:t>Cars per hour in the corridor</a:t>
            </a:r>
          </a:p>
        </c:rich>
      </c:tx>
      <c:layout/>
      <c:overlay val="0"/>
    </c:title>
    <c:autoTitleDeleted val="0"/>
    <c:plotArea>
      <c:layout/>
      <c:barChart>
        <c:barDir val="col"/>
        <c:grouping val="clustered"/>
        <c:varyColors val="0"/>
        <c:ser>
          <c:idx val="0"/>
          <c:order val="0"/>
          <c:tx>
            <c:strRef>
              <c:f>Sheet1!$B$1</c:f>
              <c:strCache>
                <c:ptCount val="1"/>
                <c:pt idx="0">
                  <c:v>Cars per hour (thousands)</c:v>
                </c:pt>
              </c:strCache>
            </c:strRef>
          </c:tx>
          <c:spPr>
            <a:solidFill>
              <a:srgbClr val="8A94A6"/>
            </a:solidFill>
            <a:effectLst/>
          </c:spPr>
          <c:invertIfNegative val="0"/>
          <c:dLbls>
            <c:numFmt formatCode="0.0&quot;k&quot;" sourceLinked="0"/>
            <c:txPr>
              <a:bodyPr/>
              <a:lstStyle/>
              <a:p>
                <a:pPr>
                  <a:defRPr b="0" i="0" strike="noStrike" sz="16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1F7A8C"/>
              </a:solidFill>
              <a:effectLst/>
            </c:spPr>
          </c:dPt>
          <c:cat>
            <c:multiLvlStrRef>
              <c:f>Sheet1!$A$2:$A$3</c:f>
              <c:multiLvlStrCache>
                <c:ptCount val="2"/>
                <c:lvl>
                  <c:pt idx="0">
                    <c:v>First guess</c:v>
                  </c:pt>
                  <c:pt idx="1">
                    <c:v>After the counts</c:v>
                  </c:pt>
                </c:lvl>
              </c:multiLvlStrCache>
            </c:multiLvlStrRef>
          </c:cat>
          <c:val>
            <c:numRef>
              <c:f>Sheet1!$B$2:$B$3</c:f>
              <c:numCache>
                <c:formatCode>General</c:formatCode>
                <c:ptCount val="2"/>
                <c:pt idx="0">
                  <c:v>117.9</c:v>
                </c:pt>
                <c:pt idx="1">
                  <c:v>61.6</c:v>
                </c:pt>
              </c:numCache>
            </c:numRef>
          </c:val>
        </c:ser>
        <c:dLbls>
          <c:numFmt formatCode="0.0&quot;k&quot;" sourceLinked="0"/>
          <c:txPr>
            <a:bodyPr/>
            <a:lstStyle/>
            <a:p>
              <a:pPr>
                <a:defRPr b="0" i="0" strike="noStrike" sz="1600" u="none">
                  <a:solidFill>
                    <a:srgbClr val="14213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Average error on hidden counters (lower is better)</a:t>
            </a:r>
          </a:p>
        </c:rich>
      </c:tx>
      <c:layout/>
      <c:overlay val="0"/>
    </c:title>
    <c:autoTitleDeleted val="0"/>
    <c:plotArea>
      <c:layout/>
      <c:barChart>
        <c:barDir val="col"/>
        <c:grouping val="clustered"/>
        <c:varyColors val="0"/>
        <c:ser>
          <c:idx val="0"/>
          <c:order val="0"/>
          <c:tx>
            <c:strRef>
              <c:f>Sheet1!$B$1</c:f>
              <c:strCache>
                <c:ptCount val="1"/>
                <c:pt idx="0">
                  <c:v>Average error (GEH) on hidden counters</c:v>
                </c:pt>
              </c:strCache>
            </c:strRef>
          </c:tx>
          <c:spPr>
            <a:solidFill>
              <a:srgbClr val="8A94A6"/>
            </a:solidFill>
            <a:effectLst/>
          </c:spPr>
          <c:invertIfNegative val="0"/>
          <c:dLbls>
            <c:numFmt formatCode="0.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E8963D"/>
              </a:solidFill>
              <a:effectLst/>
            </c:spPr>
          </c:dPt>
          <c:dPt>
            <c:idx val="2"/>
            <c:invertIfNegative val="0"/>
            <c:bubble3D val="0"/>
            <c:spPr>
              <a:solidFill>
                <a:srgbClr val="2E9E6B"/>
              </a:solidFill>
              <a:effectLst/>
            </c:spPr>
          </c:dPt>
          <c:cat>
            <c:multiLvlStrRef>
              <c:f>Sheet1!$A$2:$A$4</c:f>
              <c:multiLvlStrCache>
                <c:ptCount val="3"/>
                <c:lvl>
                  <c:pt idx="0">
                    <c:v>First version</c:v>
                  </c:pt>
                  <c:pt idx="1">
                    <c:v>After fixes</c:v>
                  </c:pt>
                  <c:pt idx="2">
                    <c:v>Now</c:v>
                  </c:pt>
                </c:lvl>
              </c:multiLvlStrCache>
            </c:multiLvlStrRef>
          </c:cat>
          <c:val>
            <c:numRef>
              <c:f>Sheet1!$B$2:$B$4</c:f>
              <c:numCache>
                <c:formatCode>General</c:formatCode>
                <c:ptCount val="3"/>
                <c:pt idx="0">
                  <c:v>35.6</c:v>
                </c:pt>
                <c:pt idx="1">
                  <c:v>23.8</c:v>
                </c:pt>
                <c:pt idx="2">
                  <c:v>23.2</c:v>
                </c:pt>
              </c:numCache>
            </c:numRef>
          </c:val>
        </c:ser>
        <c:dLbls>
          <c:numFmt formatCode="0.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Cars that reached their destination in 20 minutes</a:t>
            </a:r>
          </a:p>
        </c:rich>
      </c:tx>
      <c:layout/>
      <c:overlay val="0"/>
    </c:title>
    <c:autoTitleDeleted val="0"/>
    <c:plotArea>
      <c:layout/>
      <c:barChart>
        <c:barDir val="col"/>
        <c:grouping val="clustered"/>
        <c:varyColors val="0"/>
        <c:ser>
          <c:idx val="0"/>
          <c:order val="0"/>
          <c:tx>
            <c:strRef>
              <c:f>Sheet1!$B$1</c:f>
              <c:strCache>
                <c:ptCount val="1"/>
                <c:pt idx="0">
                  <c:v>Cars that reached their destination in 20 minutes</c:v>
                </c:pt>
              </c:strCache>
            </c:strRef>
          </c:tx>
          <c:spPr>
            <a:solidFill>
              <a:srgbClr val="8A94A6"/>
            </a:solidFill>
            <a:effectLst/>
          </c:spPr>
          <c:invertIfNegative val="0"/>
          <c:dLbls>
            <c:numFmt formatCode="#,##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4A6"/>
              </a:solidFill>
              <a:effectLst/>
            </c:spPr>
          </c:dPt>
          <c:dPt>
            <c:idx val="1"/>
            <c:invertIfNegative val="0"/>
            <c:bubble3D val="0"/>
            <c:spPr>
              <a:solidFill>
                <a:srgbClr val="D9534F"/>
              </a:solidFill>
              <a:effectLst/>
            </c:spPr>
          </c:dPt>
          <c:dPt>
            <c:idx val="2"/>
            <c:invertIfNegative val="0"/>
            <c:bubble3D val="0"/>
            <c:spPr>
              <a:solidFill>
                <a:srgbClr val="2E9E6B"/>
              </a:solidFill>
              <a:effectLst/>
            </c:spPr>
          </c:dPt>
          <c:cat>
            <c:multiLvlStrRef>
              <c:f>Sheet1!$A$2:$A$4</c:f>
              <c:multiLvlStrCache>
                <c:ptCount val="3"/>
                <c:lvl>
                  <c:pt idx="0">
                    <c:v>Road open</c:v>
                  </c:pt>
                  <c:pt idx="1">
                    <c:v>Not told</c:v>
                  </c:pt>
                  <c:pt idx="2">
                    <c:v>Warned at once</c:v>
                  </c:pt>
                </c:lvl>
              </c:multiLvlStrCache>
            </c:multiLvlStrRef>
          </c:cat>
          <c:val>
            <c:numRef>
              <c:f>Sheet1!$B$2:$B$4</c:f>
              <c:numCache>
                <c:formatCode>General</c:formatCode>
                <c:ptCount val="3"/>
                <c:pt idx="0">
                  <c:v>10233</c:v>
                </c:pt>
                <c:pt idx="1">
                  <c:v>9655</c:v>
                </c:pt>
                <c:pt idx="2">
                  <c:v>10390</c:v>
                </c:pt>
              </c:numCache>
            </c:numRef>
          </c:val>
        </c:ser>
        <c:dLbls>
          <c:numFmt formatCode="#,##0" sourceLinked="0"/>
          <c:txPr>
            <a:bodyPr/>
            <a:lstStyle/>
            <a:p>
              <a:pPr>
                <a:defRPr b="0" i="0" strike="noStrike" sz="1500" u="none">
                  <a:solidFill>
                    <a:srgbClr val="14213D"/>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4213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Hello everyone, and welcome. Our project is called Procedural Istanbul. We built a 3D copy of one of Istanbul's busiest areas, from Maslak down to the Bosphorus Bridge. And we asked a simple question: can we understand a city's traffic just by watching how fast the cars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To plan a city, you need to know where people are going. How many cars go from one neighbourhood to another, every hour? This is what planners need, and what you need when there is an accident. But there is no sensor that measures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So what can we measure? The city tells us the speed on about a thousand roads, live. But only a handful of places actually count cars. We also have the metro card taps at the stations. And everything we used is free and open to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Here is the tricky part. Look at the first two roads. Both are fast. But one has three cars, and the other has many. The speed alone cannot tell the difference. The third road is slow, which means there is a queue. So we use speed carefully: a fast road means 'not too many cars', a slow road means 'at least this many'. We never pretend to know an exact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We work in three steps. First, we measure. Second, we work backwards, like a detective: which trips could have caused this traffic? And we always say how sure we are. Third, we check our answer and try out 'what if' situations in a traffic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This is the city we built. It runs in a normal web browser, and it is made entirely from open maps: tens of thousands of buildings, with real Istanbul details like tiled roofs and shop signs. The colours on the roads show the live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Next, we split the area into small hexagon-shaped zones. Between all these zones there are thousands of possible trips, far more than we can measure. So we start with a rough guess based on the buildings, and let the real data correct it. Now my teammate will show you what we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Thank you. Here is our main finding. Our first guess, based only on buildings, imagined almost twice as many cars as there really are. When we put that guess into the simulator, the whole city got stuck in traffic. Once we used the real counts, the numbers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How do we know if our answer is good? We hide one counting point, make our estimate without it, and then check how close we were. Like an exam question you have never seen. We are honest: the total amount of traffic is right, but where exactly the cars go still needs work. Some of the counters may only count one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Now a real use. Imagine the motorway closes after an accident. At that moment we take a snapshot of all the traffic and play the next twenty minutes on the computer, in different ways. The result: if we warn drivers right away, hundreds more cars get where they are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And all of this becomes simple advice inside the 3D city. It shows which roads are overloaded, in red, what to do if a road closes, and which counters should be checked. Click on one, and the camera flies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So, what works today? The 3D city, the total amount of traffic, the honest checks, and the 'what if' simulator. The metro card data also agreed with our counts. What is not ready yet? Knowing exactly where every car goes, and a faster AI version, which did not pass our own quality check, so we do not use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You can try it yourself right now. Scan the left code to open the 3D city; it works best on a laptop. The right code opens our website, where every term is explained in simple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If you remember one thing from today: speed tells you a lot about traffic, but never the exact number of cars, so use it honestly. Thank you for listening. We are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4213D"/>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rgbClr val="8A94A6"/>
                </a:solidFill>
              </a:rPr>
              <a:t>Procedural Istanbul</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9-1.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3.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C:\Users\arif.asiroglu\Traffic_Intelligence\procedural-istanbul\docs\media\hero.jpg">    </p:cNvPr>
          <p:cNvPicPr>
            <a:picLocks noChangeAspect="1"/>
          </p:cNvPicPr>
          <p:nvPr/>
        </p:nvPicPr>
        <p:blipFill>
          <a:blip r:embed="rId1">
            <a:alphaModFix amt="45000"/>
          </a:blip>
          <a:srcRect l="0" r="0" t="0" b="0"/>
          <a:stretch/>
        </p:blipFill>
        <p:spPr>
          <a:xfrm>
            <a:off x="0" y="0"/>
            <a:ext cx="12191695" cy="6858000"/>
          </a:xfrm>
          <a:prstGeom prst="rect">
            <a:avLst/>
          </a:prstGeom>
        </p:spPr>
      </p:pic>
      <p:sp>
        <p:nvSpPr>
          <p:cNvPr id="3" name="shade"/>
          <p:cNvSpPr/>
          <p:nvPr/>
        </p:nvSpPr>
        <p:spPr>
          <a:xfrm>
            <a:off x="0" y="0"/>
            <a:ext cx="12191695" cy="6858000"/>
          </a:xfrm>
          <a:prstGeom prst="rect">
            <a:avLst/>
          </a:prstGeom>
          <a:solidFill>
            <a:srgbClr val="14213D">
              <a:alpha val="75000"/>
            </a:srgbClr>
          </a:solidFill>
          <a:ln w="12700">
            <a:solidFill>
              <a:srgbClr val="14213D">
                <a:alpha val="0"/>
              </a:srgbClr>
            </a:solidFill>
            <a:prstDash val="solid"/>
          </a:ln>
        </p:spPr>
      </p:sp>
      <p:sp>
        <p:nvSpPr>
          <p:cNvPr id="4" name="Text 1"/>
          <p:cNvSpPr txBox="1"/>
          <p:nvPr/>
        </p:nvSpPr>
        <p:spPr>
          <a:xfrm>
            <a:off x="548640" y="1554480"/>
            <a:ext cx="8229600" cy="457200"/>
          </a:xfrm>
          <a:prstGeom prst="rect">
            <a:avLst/>
          </a:prstGeom>
          <a:noFill/>
          <a:ln/>
        </p:spPr>
        <p:txBody>
          <a:bodyPr wrap="square" lIns="0" tIns="0" rIns="0" bIns="0" rtlCol="0" anchor="ctr"/>
          <a:lstStyle/>
          <a:p>
            <a:pPr indent="0" marL="0">
              <a:buNone/>
            </a:pPr>
            <a:r>
              <a:rPr lang="en-US" sz="1600" b="1" spc="400" kern="0" dirty="0">
                <a:solidFill>
                  <a:srgbClr val="E8963D"/>
                </a:solidFill>
              </a:rPr>
              <a:t>PROCEDURAL ISTANBUL</a:t>
            </a:r>
            <a:endParaRPr lang="en-US" sz="1600" dirty="0"/>
          </a:p>
        </p:txBody>
      </p:sp>
      <p:sp>
        <p:nvSpPr>
          <p:cNvPr id="5" name="Text 2"/>
          <p:cNvSpPr txBox="1"/>
          <p:nvPr/>
        </p:nvSpPr>
        <p:spPr>
          <a:xfrm>
            <a:off x="548640" y="2011680"/>
            <a:ext cx="9601200" cy="1645920"/>
          </a:xfrm>
          <a:prstGeom prst="rect">
            <a:avLst/>
          </a:prstGeom>
          <a:noFill/>
          <a:ln/>
        </p:spPr>
        <p:txBody>
          <a:bodyPr wrap="square" lIns="0" tIns="0" rIns="0" bIns="0" rtlCol="0" anchor="t"/>
          <a:lstStyle/>
          <a:p>
            <a:pPr indent="0" marL="0">
              <a:buNone/>
            </a:pPr>
            <a:r>
              <a:rPr lang="en-US" sz="4800" b="1" dirty="0">
                <a:solidFill>
                  <a:srgbClr val="FFFFFF"/>
                </a:solidFill>
              </a:rPr>
              <a:t>Reading a city's traffic from road speeds</a:t>
            </a:r>
            <a:endParaRPr lang="en-US" sz="4800" dirty="0"/>
          </a:p>
        </p:txBody>
      </p:sp>
      <p:sp>
        <p:nvSpPr>
          <p:cNvPr id="6" name="Text 3"/>
          <p:cNvSpPr txBox="1"/>
          <p:nvPr/>
        </p:nvSpPr>
        <p:spPr>
          <a:xfrm>
            <a:off x="548640" y="3749040"/>
            <a:ext cx="9144000" cy="548640"/>
          </a:xfrm>
          <a:prstGeom prst="rect">
            <a:avLst/>
          </a:prstGeom>
          <a:noFill/>
          <a:ln/>
        </p:spPr>
        <p:txBody>
          <a:bodyPr wrap="square" lIns="0" tIns="0" rIns="0" bIns="0" rtlCol="0" anchor="ctr"/>
          <a:lstStyle/>
          <a:p>
            <a:pPr indent="0" marL="0">
              <a:buNone/>
            </a:pPr>
            <a:r>
              <a:rPr lang="en-US" sz="2200" dirty="0">
                <a:solidFill>
                  <a:srgbClr val="D6E2F0"/>
                </a:solidFill>
              </a:rPr>
              <a:t>An open digital twin of Istanbul's Maslak – 15 July Bridge corridor</a:t>
            </a:r>
            <a:endParaRPr lang="en-US" sz="2200" dirty="0"/>
          </a:p>
        </p:txBody>
      </p:sp>
      <p:sp>
        <p:nvSpPr>
          <p:cNvPr id="7" name="Text 4"/>
          <p:cNvSpPr txBox="1"/>
          <p:nvPr/>
        </p:nvSpPr>
        <p:spPr>
          <a:xfrm>
            <a:off x="548640" y="5212080"/>
            <a:ext cx="8229600" cy="822960"/>
          </a:xfrm>
          <a:prstGeom prst="rect">
            <a:avLst/>
          </a:prstGeom>
          <a:noFill/>
          <a:ln/>
        </p:spPr>
        <p:txBody>
          <a:bodyPr wrap="square" lIns="0" tIns="0" rIns="0" bIns="0" rtlCol="0" anchor="ctr"/>
          <a:lstStyle/>
          <a:p>
            <a:pPr indent="0" marL="0">
              <a:buNone/>
            </a:pPr>
            <a:r>
              <a:rPr lang="en-US" sz="1600" b="1" dirty="0">
                <a:solidFill>
                  <a:srgbClr val="D6E2F0"/>
                </a:solidFill>
              </a:rPr>
              <a:t>Abdurrahim Arif Aşıroğlu</a:t>
            </a:r>
            <a:endParaRPr lang="en-US" sz="1600" dirty="0"/>
          </a:p>
          <a:p>
            <a:pPr indent="0" marL="0">
              <a:buNone/>
            </a:pPr>
            <a:r>
              <a:rPr lang="en-US" sz="1600" dirty="0">
                <a:solidFill>
                  <a:srgbClr val="D6E2F0"/>
                </a:solidFill>
              </a:rPr>
              <a:t>October 2026 · aaasiroglu.github.io/procedural-istanbul</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The big question</a:t>
            </a:r>
            <a:endParaRPr lang="en-US" sz="3400" dirty="0"/>
          </a:p>
        </p:txBody>
      </p:sp>
      <p:sp>
        <p:nvSpPr>
          <p:cNvPr id="3" name="Text 1"/>
          <p:cNvSpPr txBox="1"/>
          <p:nvPr/>
        </p:nvSpPr>
        <p:spPr>
          <a:xfrm>
            <a:off x="548640" y="1463040"/>
            <a:ext cx="6766560" cy="2011680"/>
          </a:xfrm>
          <a:prstGeom prst="rect">
            <a:avLst/>
          </a:prstGeom>
          <a:noFill/>
          <a:ln/>
        </p:spPr>
        <p:txBody>
          <a:bodyPr wrap="square" lIns="0" tIns="0" rIns="0" bIns="0" rtlCol="0" anchor="t"/>
          <a:lstStyle/>
          <a:p>
            <a:pPr indent="0" marL="0">
              <a:buNone/>
            </a:pPr>
            <a:r>
              <a:rPr lang="en-US" sz="3600" b="1" dirty="0">
                <a:solidFill>
                  <a:schemeClr val="tx2"/>
                </a:solidFill>
              </a:rPr>
              <a:t>How many cars travel from where to where, every hour?</a:t>
            </a:r>
            <a:endParaRPr lang="en-US" sz="3600" dirty="0"/>
          </a:p>
        </p:txBody>
      </p:sp>
      <p:sp>
        <p:nvSpPr>
          <p:cNvPr id="4" name="Text 2"/>
          <p:cNvSpPr txBox="1"/>
          <p:nvPr/>
        </p:nvSpPr>
        <p:spPr>
          <a:xfrm>
            <a:off x="548640" y="3566160"/>
            <a:ext cx="6400800" cy="1280160"/>
          </a:xfrm>
          <a:prstGeom prst="rect">
            <a:avLst/>
          </a:prstGeom>
          <a:noFill/>
          <a:ln/>
        </p:spPr>
        <p:txBody>
          <a:bodyPr wrap="square" lIns="0" tIns="0" rIns="0" bIns="0" rtlCol="0" anchor="t"/>
          <a:lstStyle/>
          <a:p>
            <a:pPr indent="0" marL="0">
              <a:buNone/>
            </a:pPr>
            <a:r>
              <a:rPr lang="en-US" sz="1800" dirty="0">
                <a:solidFill>
                  <a:schemeClr val="tx1"/>
                </a:solidFill>
              </a:rPr>
              <a:t>Traffic engineers call this table an origin–destination (O-D) matrix. Every simulator, every new road plan and every response to an accident starts from it.</a:t>
            </a:r>
            <a:endParaRPr lang="en-US" sz="1800" dirty="0"/>
          </a:p>
        </p:txBody>
      </p:sp>
      <p:sp>
        <p:nvSpPr>
          <p:cNvPr id="5" name="card"/>
          <p:cNvSpPr/>
          <p:nvPr/>
        </p:nvSpPr>
        <p:spPr>
          <a:xfrm>
            <a:off x="7772400" y="1463040"/>
            <a:ext cx="3840480" cy="1234440"/>
          </a:xfrm>
          <a:prstGeom prst="roundRect">
            <a:avLst>
              <a:gd name="adj" fmla="val 11111"/>
            </a:avLst>
          </a:prstGeom>
          <a:solidFill>
            <a:schemeClr val="bg2"/>
          </a:solidFill>
          <a:ln w="12700">
            <a:solidFill>
              <a:schemeClr val="bg2"/>
            </a:solidFill>
            <a:prstDash val="solid"/>
          </a:ln>
        </p:spPr>
      </p:sp>
      <p:sp>
        <p:nvSpPr>
          <p:cNvPr id="6" name="icon-circle"/>
          <p:cNvSpPr/>
          <p:nvPr/>
        </p:nvSpPr>
        <p:spPr>
          <a:xfrm>
            <a:off x="7955280" y="1737360"/>
            <a:ext cx="685800" cy="685800"/>
          </a:xfrm>
          <a:prstGeom prst="ellipse">
            <a:avLst/>
          </a:prstGeom>
          <a:solidFill>
            <a:srgbClr val="1F7A8C"/>
          </a:solidFill>
          <a:ln w="12700">
            <a:solidFill>
              <a:srgbClr val="1F7A8C"/>
            </a:solidFill>
            <a:prstDash val="solid"/>
          </a:ln>
        </p:spPr>
      </p:sp>
      <p:pic>
        <p:nvPicPr>
          <p:cNvPr id="7" name="icon" descr="preencoded.png">    </p:cNvPr>
          <p:cNvPicPr>
            <a:picLocks noChangeAspect="1"/>
          </p:cNvPicPr>
          <p:nvPr/>
        </p:nvPicPr>
        <p:blipFill>
          <a:blip r:embed="rId1"/>
          <a:stretch>
            <a:fillRect/>
          </a:stretch>
        </p:blipFill>
        <p:spPr>
          <a:xfrm>
            <a:off x="8126730" y="1908810"/>
            <a:ext cx="342900" cy="342900"/>
          </a:xfrm>
          <a:prstGeom prst="rect">
            <a:avLst/>
          </a:prstGeom>
        </p:spPr>
      </p:pic>
      <p:sp>
        <p:nvSpPr>
          <p:cNvPr id="8" name="Text 5"/>
          <p:cNvSpPr txBox="1"/>
          <p:nvPr/>
        </p:nvSpPr>
        <p:spPr>
          <a:xfrm>
            <a:off x="8823960" y="160020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Planning</a:t>
            </a:r>
            <a:endParaRPr lang="en-US" sz="1800" dirty="0"/>
          </a:p>
        </p:txBody>
      </p:sp>
      <p:sp>
        <p:nvSpPr>
          <p:cNvPr id="9" name="Text 6"/>
          <p:cNvSpPr txBox="1"/>
          <p:nvPr/>
        </p:nvSpPr>
        <p:spPr>
          <a:xfrm>
            <a:off x="8823960" y="1993392"/>
            <a:ext cx="2697480" cy="640080"/>
          </a:xfrm>
          <a:prstGeom prst="rect">
            <a:avLst/>
          </a:prstGeom>
          <a:noFill/>
          <a:ln/>
        </p:spPr>
        <p:txBody>
          <a:bodyPr wrap="square" lIns="0" tIns="0" rIns="0" bIns="0" rtlCol="0" anchor="t"/>
          <a:lstStyle/>
          <a:p>
            <a:pPr indent="0" marL="0">
              <a:buNone/>
            </a:pPr>
            <a:r>
              <a:rPr lang="en-US" sz="1400" dirty="0">
                <a:solidFill>
                  <a:schemeClr val="tx2"/>
                </a:solidFill>
              </a:rPr>
              <a:t>Where do we need more capacity, a new lane, a new bus line?</a:t>
            </a:r>
            <a:endParaRPr lang="en-US" sz="1400" dirty="0"/>
          </a:p>
        </p:txBody>
      </p:sp>
      <p:sp>
        <p:nvSpPr>
          <p:cNvPr id="10" name="card"/>
          <p:cNvSpPr/>
          <p:nvPr/>
        </p:nvSpPr>
        <p:spPr>
          <a:xfrm>
            <a:off x="7772400" y="2880360"/>
            <a:ext cx="3840480" cy="1234440"/>
          </a:xfrm>
          <a:prstGeom prst="roundRect">
            <a:avLst>
              <a:gd name="adj" fmla="val 11111"/>
            </a:avLst>
          </a:prstGeom>
          <a:solidFill>
            <a:schemeClr val="bg2"/>
          </a:solidFill>
          <a:ln w="12700">
            <a:solidFill>
              <a:schemeClr val="bg2"/>
            </a:solidFill>
            <a:prstDash val="solid"/>
          </a:ln>
        </p:spPr>
      </p:sp>
      <p:sp>
        <p:nvSpPr>
          <p:cNvPr id="11" name="icon-circle"/>
          <p:cNvSpPr/>
          <p:nvPr/>
        </p:nvSpPr>
        <p:spPr>
          <a:xfrm>
            <a:off x="7955280" y="3154680"/>
            <a:ext cx="685800" cy="685800"/>
          </a:xfrm>
          <a:prstGeom prst="ellipse">
            <a:avLst/>
          </a:prstGeom>
          <a:solidFill>
            <a:srgbClr val="1F7A8C"/>
          </a:solidFill>
          <a:ln w="12700">
            <a:solidFill>
              <a:srgbClr val="1F7A8C"/>
            </a:solidFill>
            <a:prstDash val="solid"/>
          </a:ln>
        </p:spPr>
      </p:sp>
      <p:pic>
        <p:nvPicPr>
          <p:cNvPr id="12" name="icon" descr="preencoded.png">    </p:cNvPr>
          <p:cNvPicPr>
            <a:picLocks noChangeAspect="1"/>
          </p:cNvPicPr>
          <p:nvPr/>
        </p:nvPicPr>
        <p:blipFill>
          <a:blip r:embed="rId2"/>
          <a:stretch>
            <a:fillRect/>
          </a:stretch>
        </p:blipFill>
        <p:spPr>
          <a:xfrm>
            <a:off x="8126730" y="3326130"/>
            <a:ext cx="342900" cy="342900"/>
          </a:xfrm>
          <a:prstGeom prst="rect">
            <a:avLst/>
          </a:prstGeom>
        </p:spPr>
      </p:pic>
      <p:sp>
        <p:nvSpPr>
          <p:cNvPr id="13" name="Text 9"/>
          <p:cNvSpPr txBox="1"/>
          <p:nvPr/>
        </p:nvSpPr>
        <p:spPr>
          <a:xfrm>
            <a:off x="8823960" y="301752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Accidents</a:t>
            </a:r>
            <a:endParaRPr lang="en-US" sz="1800" dirty="0"/>
          </a:p>
        </p:txBody>
      </p:sp>
      <p:sp>
        <p:nvSpPr>
          <p:cNvPr id="14" name="Text 10"/>
          <p:cNvSpPr txBox="1"/>
          <p:nvPr/>
        </p:nvSpPr>
        <p:spPr>
          <a:xfrm>
            <a:off x="8823960" y="3410712"/>
            <a:ext cx="2697480" cy="640080"/>
          </a:xfrm>
          <a:prstGeom prst="rect">
            <a:avLst/>
          </a:prstGeom>
          <a:noFill/>
          <a:ln/>
        </p:spPr>
        <p:txBody>
          <a:bodyPr wrap="square" lIns="0" tIns="0" rIns="0" bIns="0" rtlCol="0" anchor="t"/>
          <a:lstStyle/>
          <a:p>
            <a:pPr indent="0" marL="0">
              <a:buNone/>
            </a:pPr>
            <a:r>
              <a:rPr lang="en-US" sz="1400" dirty="0">
                <a:solidFill>
                  <a:schemeClr val="tx2"/>
                </a:solidFill>
              </a:rPr>
              <a:t>If a motorway closes, where will the cars go?</a:t>
            </a:r>
            <a:endParaRPr lang="en-US" sz="1400" dirty="0"/>
          </a:p>
        </p:txBody>
      </p:sp>
      <p:sp>
        <p:nvSpPr>
          <p:cNvPr id="15" name="card"/>
          <p:cNvSpPr/>
          <p:nvPr/>
        </p:nvSpPr>
        <p:spPr>
          <a:xfrm>
            <a:off x="7772400" y="4297680"/>
            <a:ext cx="3840480" cy="1234440"/>
          </a:xfrm>
          <a:prstGeom prst="roundRect">
            <a:avLst>
              <a:gd name="adj" fmla="val 11111"/>
            </a:avLst>
          </a:prstGeom>
          <a:solidFill>
            <a:schemeClr val="bg2"/>
          </a:solidFill>
          <a:ln w="12700">
            <a:solidFill>
              <a:schemeClr val="bg2"/>
            </a:solidFill>
            <a:prstDash val="solid"/>
          </a:ln>
        </p:spPr>
      </p:sp>
      <p:sp>
        <p:nvSpPr>
          <p:cNvPr id="16" name="icon-circle"/>
          <p:cNvSpPr/>
          <p:nvPr/>
        </p:nvSpPr>
        <p:spPr>
          <a:xfrm>
            <a:off x="7955280" y="4572000"/>
            <a:ext cx="685800" cy="685800"/>
          </a:xfrm>
          <a:prstGeom prst="ellipse">
            <a:avLst/>
          </a:prstGeom>
          <a:solidFill>
            <a:srgbClr val="1F7A8C"/>
          </a:solidFill>
          <a:ln w="12700">
            <a:solidFill>
              <a:srgbClr val="1F7A8C"/>
            </a:solidFill>
            <a:prstDash val="solid"/>
          </a:ln>
        </p:spPr>
      </p:sp>
      <p:pic>
        <p:nvPicPr>
          <p:cNvPr id="17" name="icon" descr="preencoded.png">    </p:cNvPr>
          <p:cNvPicPr>
            <a:picLocks noChangeAspect="1"/>
          </p:cNvPicPr>
          <p:nvPr/>
        </p:nvPicPr>
        <p:blipFill>
          <a:blip r:embed="rId3"/>
          <a:stretch>
            <a:fillRect/>
          </a:stretch>
        </p:blipFill>
        <p:spPr>
          <a:xfrm>
            <a:off x="8126730" y="4743450"/>
            <a:ext cx="342900" cy="342900"/>
          </a:xfrm>
          <a:prstGeom prst="rect">
            <a:avLst/>
          </a:prstGeom>
        </p:spPr>
      </p:pic>
      <p:sp>
        <p:nvSpPr>
          <p:cNvPr id="18" name="Text 13"/>
          <p:cNvSpPr txBox="1"/>
          <p:nvPr/>
        </p:nvSpPr>
        <p:spPr>
          <a:xfrm>
            <a:off x="8823960" y="4434840"/>
            <a:ext cx="2651760" cy="411480"/>
          </a:xfrm>
          <a:prstGeom prst="rect">
            <a:avLst/>
          </a:prstGeom>
          <a:noFill/>
          <a:ln/>
        </p:spPr>
        <p:txBody>
          <a:bodyPr wrap="square" lIns="0" tIns="0" rIns="0" bIns="0" rtlCol="0" anchor="ctr"/>
          <a:lstStyle/>
          <a:p>
            <a:pPr indent="0" marL="0">
              <a:buNone/>
            </a:pPr>
            <a:r>
              <a:rPr lang="en-US" sz="1800" b="1" dirty="0">
                <a:solidFill>
                  <a:schemeClr val="tx1"/>
                </a:solidFill>
              </a:rPr>
              <a:t>Simulation</a:t>
            </a:r>
            <a:endParaRPr lang="en-US" sz="1800" dirty="0"/>
          </a:p>
        </p:txBody>
      </p:sp>
      <p:sp>
        <p:nvSpPr>
          <p:cNvPr id="19" name="Text 14"/>
          <p:cNvSpPr txBox="1"/>
          <p:nvPr/>
        </p:nvSpPr>
        <p:spPr>
          <a:xfrm>
            <a:off x="8823960" y="4828032"/>
            <a:ext cx="2697480" cy="640080"/>
          </a:xfrm>
          <a:prstGeom prst="rect">
            <a:avLst/>
          </a:prstGeom>
          <a:noFill/>
          <a:ln/>
        </p:spPr>
        <p:txBody>
          <a:bodyPr wrap="square" lIns="0" tIns="0" rIns="0" bIns="0" rtlCol="0" anchor="t"/>
          <a:lstStyle/>
          <a:p>
            <a:pPr indent="0" marL="0">
              <a:buNone/>
            </a:pPr>
            <a:r>
              <a:rPr lang="en-US" sz="1400" dirty="0">
                <a:solidFill>
                  <a:schemeClr val="tx2"/>
                </a:solidFill>
              </a:rPr>
              <a:t>A traffic simulator needs to know who travels where.</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What we can measure in Istanbul</a:t>
            </a:r>
            <a:endParaRPr lang="en-US" sz="3400" dirty="0"/>
          </a:p>
        </p:txBody>
      </p:sp>
      <p:sp>
        <p:nvSpPr>
          <p:cNvPr id="3" name="Text 1"/>
          <p:cNvSpPr txBox="1"/>
          <p:nvPr/>
        </p:nvSpPr>
        <p:spPr>
          <a:xfrm>
            <a:off x="548640" y="1417320"/>
            <a:ext cx="2651760" cy="914400"/>
          </a:xfrm>
          <a:prstGeom prst="rect">
            <a:avLst/>
          </a:prstGeom>
          <a:noFill/>
          <a:ln/>
        </p:spPr>
        <p:txBody>
          <a:bodyPr wrap="square" lIns="0" tIns="0" rIns="0" bIns="0" rtlCol="0" anchor="ctr"/>
          <a:lstStyle/>
          <a:p>
            <a:pPr indent="0" marL="0">
              <a:buNone/>
            </a:pPr>
            <a:r>
              <a:rPr lang="en-US" sz="5400" b="1" dirty="0">
                <a:solidFill>
                  <a:srgbClr val="1F7A8C"/>
                </a:solidFill>
              </a:rPr>
              <a:t>~1,000</a:t>
            </a:r>
            <a:endParaRPr lang="en-US" sz="5400" dirty="0"/>
          </a:p>
        </p:txBody>
      </p:sp>
      <p:sp>
        <p:nvSpPr>
          <p:cNvPr id="4" name="Text 2"/>
          <p:cNvSpPr txBox="1"/>
          <p:nvPr/>
        </p:nvSpPr>
        <p:spPr>
          <a:xfrm>
            <a:off x="3246120" y="1508760"/>
            <a:ext cx="3246120" cy="822960"/>
          </a:xfrm>
          <a:prstGeom prst="rect">
            <a:avLst/>
          </a:prstGeom>
          <a:noFill/>
          <a:ln/>
        </p:spPr>
        <p:txBody>
          <a:bodyPr wrap="square" lIns="0" tIns="0" rIns="0" bIns="0" rtlCol="0" anchor="ctr"/>
          <a:lstStyle/>
          <a:p>
            <a:pPr indent="0" marL="0">
              <a:buNone/>
            </a:pPr>
            <a:r>
              <a:rPr lang="en-US" sz="1700" dirty="0">
                <a:solidFill>
                  <a:schemeClr val="tx1"/>
                </a:solidFill>
              </a:rPr>
              <a:t>road pieces with a live speed, updated every few minutes</a:t>
            </a:r>
            <a:endParaRPr lang="en-US" sz="1700" dirty="0"/>
          </a:p>
        </p:txBody>
      </p:sp>
      <p:sp>
        <p:nvSpPr>
          <p:cNvPr id="5" name="Text 3"/>
          <p:cNvSpPr txBox="1"/>
          <p:nvPr/>
        </p:nvSpPr>
        <p:spPr>
          <a:xfrm>
            <a:off x="548640" y="3017520"/>
            <a:ext cx="2651760" cy="914400"/>
          </a:xfrm>
          <a:prstGeom prst="rect">
            <a:avLst/>
          </a:prstGeom>
          <a:noFill/>
          <a:ln/>
        </p:spPr>
        <p:txBody>
          <a:bodyPr wrap="square" lIns="0" tIns="0" rIns="0" bIns="0" rtlCol="0" anchor="ctr"/>
          <a:lstStyle/>
          <a:p>
            <a:pPr indent="0" marL="0">
              <a:buNone/>
            </a:pPr>
            <a:r>
              <a:rPr lang="en-US" sz="5400" b="1" dirty="0">
                <a:solidFill>
                  <a:srgbClr val="E8963D"/>
                </a:solidFill>
              </a:rPr>
              <a:t>23</a:t>
            </a:r>
            <a:endParaRPr lang="en-US" sz="5400" dirty="0"/>
          </a:p>
        </p:txBody>
      </p:sp>
      <p:sp>
        <p:nvSpPr>
          <p:cNvPr id="6" name="Text 4"/>
          <p:cNvSpPr txBox="1"/>
          <p:nvPr/>
        </p:nvSpPr>
        <p:spPr>
          <a:xfrm>
            <a:off x="3246120" y="3108960"/>
            <a:ext cx="3246120" cy="822960"/>
          </a:xfrm>
          <a:prstGeom prst="rect">
            <a:avLst/>
          </a:prstGeom>
          <a:noFill/>
          <a:ln/>
        </p:spPr>
        <p:txBody>
          <a:bodyPr wrap="square" lIns="0" tIns="0" rIns="0" bIns="0" rtlCol="0" anchor="ctr"/>
          <a:lstStyle/>
          <a:p>
            <a:pPr indent="0" marL="0">
              <a:buNone/>
            </a:pPr>
            <a:r>
              <a:rPr lang="en-US" sz="1700" dirty="0">
                <a:solidFill>
                  <a:schemeClr val="tx1"/>
                </a:solidFill>
              </a:rPr>
              <a:t>car counters: only a few places count actual cars</a:t>
            </a:r>
            <a:endParaRPr lang="en-US" sz="1700" dirty="0"/>
          </a:p>
        </p:txBody>
      </p:sp>
      <p:sp>
        <p:nvSpPr>
          <p:cNvPr id="7" name="Text 5"/>
          <p:cNvSpPr txBox="1"/>
          <p:nvPr/>
        </p:nvSpPr>
        <p:spPr>
          <a:xfrm>
            <a:off x="548640" y="4617720"/>
            <a:ext cx="2651760" cy="914400"/>
          </a:xfrm>
          <a:prstGeom prst="rect">
            <a:avLst/>
          </a:prstGeom>
          <a:noFill/>
          <a:ln/>
        </p:spPr>
        <p:txBody>
          <a:bodyPr wrap="square" lIns="0" tIns="0" rIns="0" bIns="0" rtlCol="0" anchor="ctr"/>
          <a:lstStyle/>
          <a:p>
            <a:pPr indent="0" marL="0">
              <a:buNone/>
            </a:pPr>
            <a:r>
              <a:rPr lang="en-US" sz="5400" b="1" dirty="0">
                <a:solidFill>
                  <a:srgbClr val="2E9E6B"/>
                </a:solidFill>
              </a:rPr>
              <a:t>31</a:t>
            </a:r>
            <a:endParaRPr lang="en-US" sz="5400" dirty="0"/>
          </a:p>
        </p:txBody>
      </p:sp>
      <p:sp>
        <p:nvSpPr>
          <p:cNvPr id="8" name="Text 6"/>
          <p:cNvSpPr txBox="1"/>
          <p:nvPr/>
        </p:nvSpPr>
        <p:spPr>
          <a:xfrm>
            <a:off x="3246120" y="4709160"/>
            <a:ext cx="3246120" cy="822960"/>
          </a:xfrm>
          <a:prstGeom prst="rect">
            <a:avLst/>
          </a:prstGeom>
          <a:noFill/>
          <a:ln/>
        </p:spPr>
        <p:txBody>
          <a:bodyPr wrap="square" lIns="0" tIns="0" rIns="0" bIns="0" rtlCol="0" anchor="ctr"/>
          <a:lstStyle/>
          <a:p>
            <a:pPr indent="0" marL="0">
              <a:buNone/>
            </a:pPr>
            <a:r>
              <a:rPr lang="en-US" sz="1700" dirty="0">
                <a:solidFill>
                  <a:schemeClr val="tx1"/>
                </a:solidFill>
              </a:rPr>
              <a:t>metro and Metrobüs stops: Istanbulkart taps per hour</a:t>
            </a:r>
            <a:endParaRPr lang="en-US" sz="1700" dirty="0"/>
          </a:p>
        </p:txBody>
      </p:sp>
      <p:sp>
        <p:nvSpPr>
          <p:cNvPr id="9" name="Text 7"/>
          <p:cNvSpPr txBox="1"/>
          <p:nvPr/>
        </p:nvSpPr>
        <p:spPr>
          <a:xfrm>
            <a:off x="548640" y="5989320"/>
            <a:ext cx="6035040" cy="457200"/>
          </a:xfrm>
          <a:prstGeom prst="rect">
            <a:avLst/>
          </a:prstGeom>
          <a:noFill/>
          <a:ln/>
        </p:spPr>
        <p:txBody>
          <a:bodyPr wrap="square" lIns="0" tIns="0" rIns="0" bIns="0" rtlCol="0" anchor="ctr"/>
          <a:lstStyle/>
          <a:p>
            <a:pPr indent="0" marL="0">
              <a:buNone/>
            </a:pPr>
            <a:r>
              <a:rPr lang="en-US" sz="1400" i="1" dirty="0">
                <a:solidFill>
                  <a:schemeClr val="tx2"/>
                </a:solidFill>
              </a:rPr>
              <a:t>All of it is free, open data from the Istanbul Metropolitan Municipality (İBB) and OpenStreetMap.</a:t>
            </a:r>
            <a:endParaRPr lang="en-US" sz="1400" dirty="0"/>
          </a:p>
        </p:txBody>
      </p:sp>
      <p:pic>
        <p:nvPicPr>
          <p:cNvPr id="10" name="live-map" descr="C:\Users\arif.asiroglu\AppData\Local\Temp\claude\C--Users-arif-asiroglu-Traffic-Intelligence\5c2796c9-d62b-4927-99f5-a4916ca8f74d\scratchpad\shots\genel.png">    </p:cNvPr>
          <p:cNvPicPr>
            <a:picLocks noChangeAspect="1"/>
          </p:cNvPicPr>
          <p:nvPr/>
        </p:nvPicPr>
        <p:blipFill>
          <a:blip r:embed="rId1"/>
          <a:stretch>
            <a:fillRect/>
          </a:stretch>
        </p:blipFill>
        <p:spPr>
          <a:xfrm>
            <a:off x="6812280" y="1417320"/>
            <a:ext cx="4800600" cy="2999232"/>
          </a:xfrm>
          <a:prstGeom prst="rect">
            <a:avLst/>
          </a:prstGeom>
        </p:spPr>
      </p:pic>
      <p:sp>
        <p:nvSpPr>
          <p:cNvPr id="11" name="Text 8"/>
          <p:cNvSpPr txBox="1"/>
          <p:nvPr/>
        </p:nvSpPr>
        <p:spPr>
          <a:xfrm>
            <a:off x="6766560" y="4526280"/>
            <a:ext cx="4846320" cy="457200"/>
          </a:xfrm>
          <a:prstGeom prst="rect">
            <a:avLst/>
          </a:prstGeom>
          <a:noFill/>
          <a:ln/>
        </p:spPr>
        <p:txBody>
          <a:bodyPr wrap="square" lIns="0" tIns="0" rIns="0" bIns="0" rtlCol="0" anchor="ctr"/>
          <a:lstStyle/>
          <a:p>
            <a:pPr indent="0" marL="0">
              <a:buNone/>
            </a:pPr>
            <a:r>
              <a:rPr lang="en-US" sz="1200" dirty="0">
                <a:solidFill>
                  <a:srgbClr val="8A94A6"/>
                </a:solidFill>
              </a:rPr>
              <a:t>The live 3D twin: roads coloured by İBB speeds (green free, red jammed)</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Why is this hard? A speed is not a count</a:t>
            </a:r>
            <a:endParaRPr lang="en-US" sz="3400" dirty="0"/>
          </a:p>
        </p:txBody>
      </p:sp>
      <p:pic>
        <p:nvPicPr>
          <p:cNvPr id="3" name="speed-puzzle" descr="C:\Users\arif.asiroglu\AppData\Local\Temp\claude\C--Users-arif-asiroglu-Traffic-Intelligence\5c2796c9-d62b-4927-99f5-a4916ca8f74d\scratchpad\deck\speed_puzzle.png">    </p:cNvPr>
          <p:cNvPicPr>
            <a:picLocks noChangeAspect="1"/>
          </p:cNvPicPr>
          <p:nvPr/>
        </p:nvPicPr>
        <p:blipFill>
          <a:blip r:embed="rId1"/>
          <a:stretch>
            <a:fillRect/>
          </a:stretch>
        </p:blipFill>
        <p:spPr>
          <a:xfrm>
            <a:off x="548640" y="1325880"/>
            <a:ext cx="8229600" cy="4050792"/>
          </a:xfrm>
          <a:prstGeom prst="rect">
            <a:avLst/>
          </a:prstGeom>
        </p:spPr>
      </p:pic>
      <p:sp>
        <p:nvSpPr>
          <p:cNvPr id="4" name="takeaway"/>
          <p:cNvSpPr/>
          <p:nvPr/>
        </p:nvSpPr>
        <p:spPr>
          <a:xfrm>
            <a:off x="9098280" y="1463040"/>
            <a:ext cx="2560320" cy="3749040"/>
          </a:xfrm>
          <a:prstGeom prst="roundRect">
            <a:avLst>
              <a:gd name="adj" fmla="val 5357"/>
            </a:avLst>
          </a:prstGeom>
          <a:solidFill>
            <a:schemeClr val="bg2"/>
          </a:solidFill>
          <a:ln w="12700">
            <a:solidFill>
              <a:schemeClr val="bg2"/>
            </a:solidFill>
            <a:prstDash val="solid"/>
          </a:ln>
        </p:spPr>
      </p:sp>
      <p:sp>
        <p:nvSpPr>
          <p:cNvPr id="5" name="Text 2"/>
          <p:cNvSpPr txBox="1"/>
          <p:nvPr/>
        </p:nvSpPr>
        <p:spPr>
          <a:xfrm>
            <a:off x="9281160" y="1645920"/>
            <a:ext cx="2240280" cy="3474720"/>
          </a:xfrm>
          <a:prstGeom prst="rect">
            <a:avLst/>
          </a:prstGeom>
          <a:noFill/>
          <a:ln/>
        </p:spPr>
        <p:txBody>
          <a:bodyPr wrap="square" lIns="0" tIns="0" rIns="0" bIns="0" rtlCol="0" anchor="t"/>
          <a:lstStyle/>
          <a:p>
            <a:pPr indent="0" marL="0">
              <a:buNone/>
            </a:pPr>
            <a:r>
              <a:rPr lang="en-US" sz="2000" b="1" dirty="0">
                <a:solidFill>
                  <a:schemeClr val="accent1"/>
                </a:solidFill>
              </a:rPr>
              <a:t>Our rule</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Fast road:</a:t>
            </a:r>
            <a:endParaRPr lang="en-US" sz="1500" dirty="0"/>
          </a:p>
          <a:p>
            <a:pPr indent="0" marL="0">
              <a:buNone/>
            </a:pPr>
            <a:r>
              <a:rPr lang="en-US" sz="1500" dirty="0">
                <a:solidFill>
                  <a:schemeClr val="tx1"/>
                </a:solidFill>
              </a:rPr>
              <a:t>“at most this many cars”</a:t>
            </a:r>
            <a:endParaRPr lang="en-US" sz="1500" dirty="0"/>
          </a:p>
          <a:p>
            <a:pPr indent="0" marL="0">
              <a:buNone/>
            </a:pPr>
            <a:r>
              <a:rPr lang="en-US" sz="800" dirty="0">
                <a:solidFill>
                  <a:schemeClr val="tx1"/>
                </a:solidFill>
              </a:rPr>
              <a:t> </a:t>
            </a:r>
            <a:endParaRPr lang="en-US" sz="1500" dirty="0"/>
          </a:p>
          <a:p>
            <a:pPr indent="0" marL="0">
              <a:buNone/>
            </a:pPr>
            <a:r>
              <a:rPr lang="en-US" sz="1500" b="1" dirty="0">
                <a:solidFill>
                  <a:schemeClr val="tx1"/>
                </a:solidFill>
              </a:rPr>
              <a:t>Jammed road:</a:t>
            </a:r>
            <a:endParaRPr lang="en-US" sz="1500" dirty="0"/>
          </a:p>
          <a:p>
            <a:pPr indent="0" marL="0">
              <a:buNone/>
            </a:pPr>
            <a:r>
              <a:rPr lang="en-US" sz="1500" dirty="0">
                <a:solidFill>
                  <a:schemeClr val="tx1"/>
                </a:solidFill>
              </a:rPr>
              <a:t>“at least this many cars”</a:t>
            </a:r>
            <a:endParaRPr lang="en-US" sz="1500" dirty="0"/>
          </a:p>
          <a:p>
            <a:pPr indent="0" marL="0">
              <a:buNone/>
            </a:pPr>
            <a:r>
              <a:rPr lang="en-US" sz="800" dirty="0">
                <a:solidFill>
                  <a:schemeClr val="tx1"/>
                </a:solidFill>
              </a:rPr>
              <a:t> </a:t>
            </a:r>
            <a:endParaRPr lang="en-US" sz="1500" dirty="0"/>
          </a:p>
          <a:p>
            <a:pPr indent="0" marL="0">
              <a:buNone/>
            </a:pPr>
            <a:r>
              <a:rPr lang="en-US" sz="1500" dirty="0">
                <a:solidFill>
                  <a:schemeClr val="tx1"/>
                </a:solidFill>
              </a:rPr>
              <a:t>We never invent an exact number.</a:t>
            </a:r>
            <a:endParaRPr lang="en-US" sz="1500" dirty="0"/>
          </a:p>
        </p:txBody>
      </p:sp>
      <p:sp>
        <p:nvSpPr>
          <p:cNvPr id="6" name="Text 3"/>
          <p:cNvSpPr txBox="1"/>
          <p:nvPr/>
        </p:nvSpPr>
        <p:spPr>
          <a:xfrm>
            <a:off x="548640" y="5715000"/>
            <a:ext cx="10972800" cy="457200"/>
          </a:xfrm>
          <a:prstGeom prst="rect">
            <a:avLst/>
          </a:prstGeom>
          <a:noFill/>
          <a:ln/>
        </p:spPr>
        <p:txBody>
          <a:bodyPr wrap="square" lIns="0" tIns="0" rIns="0" bIns="0" rtlCol="0" anchor="ctr"/>
          <a:lstStyle/>
          <a:p>
            <a:pPr indent="0" marL="0">
              <a:buNone/>
            </a:pPr>
            <a:r>
              <a:rPr lang="en-US" sz="1600" i="1" dirty="0">
                <a:solidFill>
                  <a:schemeClr val="tx2"/>
                </a:solidFill>
              </a:rPr>
              <a:t>This careful use of speed (a “censored observation”) is the main idea of the project.</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Our approach in three steps</a:t>
            </a:r>
            <a:endParaRPr lang="en-US" sz="3400" dirty="0"/>
          </a:p>
        </p:txBody>
      </p:sp>
      <p:sp>
        <p:nvSpPr>
          <p:cNvPr id="3" name="step"/>
          <p:cNvSpPr/>
          <p:nvPr/>
        </p:nvSpPr>
        <p:spPr>
          <a:xfrm>
            <a:off x="548640" y="1554480"/>
            <a:ext cx="3429000" cy="3931920"/>
          </a:xfrm>
          <a:prstGeom prst="roundRect">
            <a:avLst>
              <a:gd name="adj" fmla="val 4000"/>
            </a:avLst>
          </a:prstGeom>
          <a:solidFill>
            <a:srgbClr val="1F7A8C"/>
          </a:solidFill>
          <a:ln w="12700">
            <a:solidFill>
              <a:srgbClr val="1F7A8C"/>
            </a:solidFill>
            <a:prstDash val="solid"/>
          </a:ln>
        </p:spPr>
      </p:sp>
      <p:sp>
        <p:nvSpPr>
          <p:cNvPr id="4" name="icon-circle"/>
          <p:cNvSpPr/>
          <p:nvPr/>
        </p:nvSpPr>
        <p:spPr>
          <a:xfrm>
            <a:off x="868680" y="1828800"/>
            <a:ext cx="914400" cy="914400"/>
          </a:xfrm>
          <a:prstGeom prst="ellipse">
            <a:avLst/>
          </a:prstGeom>
          <a:solidFill>
            <a:srgbClr val="FFFFFF"/>
          </a:solidFill>
          <a:ln w="12700">
            <a:solidFill>
              <a:srgbClr val="FFFFFF"/>
            </a:solidFill>
            <a:prstDash val="solid"/>
          </a:ln>
        </p:spPr>
      </p:sp>
      <p:pic>
        <p:nvPicPr>
          <p:cNvPr id="5" name="icon" descr="preencoded.png">    </p:cNvPr>
          <p:cNvPicPr>
            <a:picLocks noChangeAspect="1"/>
          </p:cNvPicPr>
          <p:nvPr/>
        </p:nvPicPr>
        <p:blipFill>
          <a:blip r:embed="rId1"/>
          <a:stretch>
            <a:fillRect/>
          </a:stretch>
        </p:blipFill>
        <p:spPr>
          <a:xfrm>
            <a:off x="1097280" y="2057400"/>
            <a:ext cx="457200" cy="457200"/>
          </a:xfrm>
          <a:prstGeom prst="rect">
            <a:avLst/>
          </a:prstGeom>
        </p:spPr>
      </p:pic>
      <p:sp>
        <p:nvSpPr>
          <p:cNvPr id="6" name="Text 3"/>
          <p:cNvSpPr txBox="1"/>
          <p:nvPr/>
        </p:nvSpPr>
        <p:spPr>
          <a:xfrm>
            <a:off x="86868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1  Measure</a:t>
            </a:r>
            <a:endParaRPr lang="en-US" sz="2200" dirty="0"/>
          </a:p>
        </p:txBody>
      </p:sp>
      <p:sp>
        <p:nvSpPr>
          <p:cNvPr id="7" name="Text 4"/>
          <p:cNvSpPr txBox="1"/>
          <p:nvPr/>
        </p:nvSpPr>
        <p:spPr>
          <a:xfrm>
            <a:off x="86868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Speeds on 1,000 roads, 23 car counters and metro card taps</a:t>
            </a:r>
            <a:endParaRPr lang="en-US" sz="1600" dirty="0"/>
          </a:p>
        </p:txBody>
      </p:sp>
      <p:sp>
        <p:nvSpPr>
          <p:cNvPr id="8" name="Text 5"/>
          <p:cNvSpPr txBox="1"/>
          <p:nvPr/>
        </p:nvSpPr>
        <p:spPr>
          <a:xfrm>
            <a:off x="3950208" y="3108960"/>
            <a:ext cx="411480" cy="548640"/>
          </a:xfrm>
          <a:prstGeom prst="rect">
            <a:avLst/>
          </a:prstGeom>
          <a:noFill/>
          <a:ln/>
        </p:spPr>
        <p:txBody>
          <a:bodyPr wrap="square" lIns="0" tIns="0" rIns="0" bIns="0" rtlCol="0" anchor="ctr"/>
          <a:lstStyle/>
          <a:p>
            <a:pPr algn="ctr" indent="0" marL="0">
              <a:buNone/>
            </a:pPr>
            <a:r>
              <a:rPr lang="en-US" sz="2800" b="1" dirty="0">
                <a:solidFill>
                  <a:srgbClr val="8A94A6"/>
                </a:solidFill>
              </a:rPr>
              <a:t>→</a:t>
            </a:r>
            <a:endParaRPr lang="en-US" sz="2800" dirty="0"/>
          </a:p>
        </p:txBody>
      </p:sp>
      <p:sp>
        <p:nvSpPr>
          <p:cNvPr id="9" name="step"/>
          <p:cNvSpPr/>
          <p:nvPr/>
        </p:nvSpPr>
        <p:spPr>
          <a:xfrm>
            <a:off x="4343400" y="1554480"/>
            <a:ext cx="3429000" cy="3931920"/>
          </a:xfrm>
          <a:prstGeom prst="roundRect">
            <a:avLst>
              <a:gd name="adj" fmla="val 4000"/>
            </a:avLst>
          </a:prstGeom>
          <a:solidFill>
            <a:srgbClr val="E8963D"/>
          </a:solidFill>
          <a:ln w="12700">
            <a:solidFill>
              <a:srgbClr val="E8963D"/>
            </a:solidFill>
            <a:prstDash val="solid"/>
          </a:ln>
        </p:spPr>
      </p:sp>
      <p:sp>
        <p:nvSpPr>
          <p:cNvPr id="10" name="icon-circle"/>
          <p:cNvSpPr/>
          <p:nvPr/>
        </p:nvSpPr>
        <p:spPr>
          <a:xfrm>
            <a:off x="4663440" y="1828800"/>
            <a:ext cx="914400" cy="914400"/>
          </a:xfrm>
          <a:prstGeom prst="ellipse">
            <a:avLst/>
          </a:prstGeom>
          <a:solidFill>
            <a:srgbClr val="FFFFFF"/>
          </a:solidFill>
          <a:ln w="12700">
            <a:solidFill>
              <a:srgbClr val="FFFFFF"/>
            </a:solidFill>
            <a:prstDash val="solid"/>
          </a:ln>
        </p:spPr>
      </p:sp>
      <p:pic>
        <p:nvPicPr>
          <p:cNvPr id="11" name="icon" descr="preencoded.png">    </p:cNvPr>
          <p:cNvPicPr>
            <a:picLocks noChangeAspect="1"/>
          </p:cNvPicPr>
          <p:nvPr/>
        </p:nvPicPr>
        <p:blipFill>
          <a:blip r:embed="rId2"/>
          <a:stretch>
            <a:fillRect/>
          </a:stretch>
        </p:blipFill>
        <p:spPr>
          <a:xfrm>
            <a:off x="4892040" y="2057400"/>
            <a:ext cx="457200" cy="457200"/>
          </a:xfrm>
          <a:prstGeom prst="rect">
            <a:avLst/>
          </a:prstGeom>
        </p:spPr>
      </p:pic>
      <p:sp>
        <p:nvSpPr>
          <p:cNvPr id="12" name="Text 8"/>
          <p:cNvSpPr txBox="1"/>
          <p:nvPr/>
        </p:nvSpPr>
        <p:spPr>
          <a:xfrm>
            <a:off x="466344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2  Work backwards</a:t>
            </a:r>
            <a:endParaRPr lang="en-US" sz="2200" dirty="0"/>
          </a:p>
        </p:txBody>
      </p:sp>
      <p:sp>
        <p:nvSpPr>
          <p:cNvPr id="13" name="Text 9"/>
          <p:cNvSpPr txBox="1"/>
          <p:nvPr/>
        </p:nvSpPr>
        <p:spPr>
          <a:xfrm>
            <a:off x="466344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Find the trips that best explain what we measured, and say how sure we are</a:t>
            </a:r>
            <a:endParaRPr lang="en-US" sz="1600" dirty="0"/>
          </a:p>
        </p:txBody>
      </p:sp>
      <p:sp>
        <p:nvSpPr>
          <p:cNvPr id="14" name="Text 10"/>
          <p:cNvSpPr txBox="1"/>
          <p:nvPr/>
        </p:nvSpPr>
        <p:spPr>
          <a:xfrm>
            <a:off x="7744968" y="3108960"/>
            <a:ext cx="411480" cy="548640"/>
          </a:xfrm>
          <a:prstGeom prst="rect">
            <a:avLst/>
          </a:prstGeom>
          <a:noFill/>
          <a:ln/>
        </p:spPr>
        <p:txBody>
          <a:bodyPr wrap="square" lIns="0" tIns="0" rIns="0" bIns="0" rtlCol="0" anchor="ctr"/>
          <a:lstStyle/>
          <a:p>
            <a:pPr algn="ctr" indent="0" marL="0">
              <a:buNone/>
            </a:pPr>
            <a:r>
              <a:rPr lang="en-US" sz="2800" b="1" dirty="0">
                <a:solidFill>
                  <a:srgbClr val="8A94A6"/>
                </a:solidFill>
              </a:rPr>
              <a:t>→</a:t>
            </a:r>
            <a:endParaRPr lang="en-US" sz="2800" dirty="0"/>
          </a:p>
        </p:txBody>
      </p:sp>
      <p:sp>
        <p:nvSpPr>
          <p:cNvPr id="15" name="step"/>
          <p:cNvSpPr/>
          <p:nvPr/>
        </p:nvSpPr>
        <p:spPr>
          <a:xfrm>
            <a:off x="8138160" y="1554480"/>
            <a:ext cx="3429000" cy="3931920"/>
          </a:xfrm>
          <a:prstGeom prst="roundRect">
            <a:avLst>
              <a:gd name="adj" fmla="val 4000"/>
            </a:avLst>
          </a:prstGeom>
          <a:solidFill>
            <a:srgbClr val="2E9E6B"/>
          </a:solidFill>
          <a:ln w="12700">
            <a:solidFill>
              <a:srgbClr val="2E9E6B"/>
            </a:solidFill>
            <a:prstDash val="solid"/>
          </a:ln>
        </p:spPr>
      </p:sp>
      <p:sp>
        <p:nvSpPr>
          <p:cNvPr id="16" name="icon-circle"/>
          <p:cNvSpPr/>
          <p:nvPr/>
        </p:nvSpPr>
        <p:spPr>
          <a:xfrm>
            <a:off x="8458200" y="1828800"/>
            <a:ext cx="914400" cy="914400"/>
          </a:xfrm>
          <a:prstGeom prst="ellipse">
            <a:avLst/>
          </a:prstGeom>
          <a:solidFill>
            <a:srgbClr val="FFFFFF"/>
          </a:solidFill>
          <a:ln w="12700">
            <a:solidFill>
              <a:srgbClr val="FFFFFF"/>
            </a:solidFill>
            <a:prstDash val="solid"/>
          </a:ln>
        </p:spPr>
      </p:sp>
      <p:pic>
        <p:nvPicPr>
          <p:cNvPr id="17" name="icon" descr="preencoded.png">    </p:cNvPr>
          <p:cNvPicPr>
            <a:picLocks noChangeAspect="1"/>
          </p:cNvPicPr>
          <p:nvPr/>
        </p:nvPicPr>
        <p:blipFill>
          <a:blip r:embed="rId3"/>
          <a:stretch>
            <a:fillRect/>
          </a:stretch>
        </p:blipFill>
        <p:spPr>
          <a:xfrm>
            <a:off x="8686800" y="2057400"/>
            <a:ext cx="457200" cy="457200"/>
          </a:xfrm>
          <a:prstGeom prst="rect">
            <a:avLst/>
          </a:prstGeom>
        </p:spPr>
      </p:pic>
      <p:sp>
        <p:nvSpPr>
          <p:cNvPr id="18" name="Text 13"/>
          <p:cNvSpPr txBox="1"/>
          <p:nvPr/>
        </p:nvSpPr>
        <p:spPr>
          <a:xfrm>
            <a:off x="8458200" y="2971800"/>
            <a:ext cx="2834640" cy="548640"/>
          </a:xfrm>
          <a:prstGeom prst="rect">
            <a:avLst/>
          </a:prstGeom>
          <a:noFill/>
          <a:ln/>
        </p:spPr>
        <p:txBody>
          <a:bodyPr wrap="square" lIns="0" tIns="0" rIns="0" bIns="0" rtlCol="0" anchor="ctr"/>
          <a:lstStyle/>
          <a:p>
            <a:pPr indent="0" marL="0">
              <a:buNone/>
            </a:pPr>
            <a:r>
              <a:rPr lang="en-US" sz="2200" b="1" dirty="0">
                <a:solidFill>
                  <a:srgbClr val="FFFFFF"/>
                </a:solidFill>
              </a:rPr>
              <a:t>3  Check and simulate</a:t>
            </a:r>
            <a:endParaRPr lang="en-US" sz="2200" dirty="0"/>
          </a:p>
        </p:txBody>
      </p:sp>
      <p:sp>
        <p:nvSpPr>
          <p:cNvPr id="19" name="Text 14"/>
          <p:cNvSpPr txBox="1"/>
          <p:nvPr/>
        </p:nvSpPr>
        <p:spPr>
          <a:xfrm>
            <a:off x="8458200" y="3611880"/>
            <a:ext cx="2834640" cy="1645920"/>
          </a:xfrm>
          <a:prstGeom prst="rect">
            <a:avLst/>
          </a:prstGeom>
          <a:noFill/>
          <a:ln/>
        </p:spPr>
        <p:txBody>
          <a:bodyPr wrap="square" lIns="0" tIns="0" rIns="0" bIns="0" rtlCol="0" anchor="t"/>
          <a:lstStyle/>
          <a:p>
            <a:pPr indent="0" marL="0">
              <a:buNone/>
            </a:pPr>
            <a:r>
              <a:rPr lang="en-US" sz="1600" dirty="0">
                <a:solidFill>
                  <a:srgbClr val="FFFFFF"/>
                </a:solidFill>
              </a:rPr>
              <a:t>Test on data the model never saw, then play “what if” in a traffic simulator</a:t>
            </a:r>
            <a:endParaRPr lang="en-US" sz="1600" dirty="0"/>
          </a:p>
        </p:txBody>
      </p:sp>
      <p:sp>
        <p:nvSpPr>
          <p:cNvPr id="20" name="Text 15"/>
          <p:cNvSpPr txBox="1"/>
          <p:nvPr/>
        </p:nvSpPr>
        <p:spPr>
          <a:xfrm>
            <a:off x="548640" y="5760720"/>
            <a:ext cx="10972800" cy="457200"/>
          </a:xfrm>
          <a:prstGeom prst="rect">
            <a:avLst/>
          </a:prstGeom>
          <a:noFill/>
          <a:ln/>
        </p:spPr>
        <p:txBody>
          <a:bodyPr wrap="square" lIns="0" tIns="0" rIns="0" bIns="0" rtlCol="0" anchor="ctr"/>
          <a:lstStyle/>
          <a:p>
            <a:pPr indent="0" marL="0">
              <a:buNone/>
            </a:pPr>
            <a:r>
              <a:rPr lang="en-US" sz="1600" i="1" dirty="0">
                <a:solidFill>
                  <a:schemeClr val="tx2"/>
                </a:solidFill>
              </a:rPr>
              <a:t>Like a detective: we do not see the trips, only their footprints on the roads.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Step 1 · A 3D copy of the city from open data</a:t>
            </a:r>
            <a:endParaRPr lang="en-US" sz="3400" dirty="0"/>
          </a:p>
        </p:txBody>
      </p:sp>
      <p:pic>
        <p:nvPicPr>
          <p:cNvPr id="3" name="shot" descr="C:\Users\arif.asiroglu\AppData\Local\Temp\claude\C--Users-arif-asiroglu-Traffic-Intelligence\5c2796c9-d62b-4927-99f5-a4916ca8f74d\scratchpad\shots\kopru_c.png">    </p:cNvPr>
          <p:cNvPicPr>
            <a:picLocks noChangeAspect="1"/>
          </p:cNvPicPr>
          <p:nvPr/>
        </p:nvPicPr>
        <p:blipFill>
          <a:blip r:embed="rId1"/>
          <a:srcRect l="0" r="0" t="0" b="0"/>
          <a:stretch/>
        </p:blipFill>
        <p:spPr>
          <a:xfrm>
            <a:off x="548640" y="1325880"/>
            <a:ext cx="3520440" cy="3886200"/>
          </a:xfrm>
          <a:prstGeom prst="rect">
            <a:avLst/>
          </a:prstGeom>
        </p:spPr>
      </p:pic>
      <p:sp>
        <p:nvSpPr>
          <p:cNvPr id="4" name="Text 1"/>
          <p:cNvSpPr txBox="1"/>
          <p:nvPr/>
        </p:nvSpPr>
        <p:spPr>
          <a:xfrm>
            <a:off x="54864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15 July Bridge at dusk</a:t>
            </a:r>
            <a:endParaRPr lang="en-US" sz="1300" dirty="0"/>
          </a:p>
        </p:txBody>
      </p:sp>
      <p:pic>
        <p:nvPicPr>
          <p:cNvPr id="5" name="shot" descr="C:\Users\arif.asiroglu\AppData\Local\Temp\claude\C--Users-arif-asiroglu-Traffic-Intelligence\5c2796c9-d62b-4927-99f5-a4916ca8f74d\scratchpad\shots\levent_c.png">    </p:cNvPr>
          <p:cNvPicPr>
            <a:picLocks noChangeAspect="1"/>
          </p:cNvPicPr>
          <p:nvPr/>
        </p:nvPicPr>
        <p:blipFill>
          <a:blip r:embed="rId2"/>
          <a:srcRect l="0" r="0" t="0" b="0"/>
          <a:stretch/>
        </p:blipFill>
        <p:spPr>
          <a:xfrm>
            <a:off x="4297680" y="1325880"/>
            <a:ext cx="3520440" cy="3886200"/>
          </a:xfrm>
          <a:prstGeom prst="rect">
            <a:avLst/>
          </a:prstGeom>
        </p:spPr>
      </p:pic>
      <p:sp>
        <p:nvSpPr>
          <p:cNvPr id="6" name="Text 2"/>
          <p:cNvSpPr txBox="1"/>
          <p:nvPr/>
        </p:nvSpPr>
        <p:spPr>
          <a:xfrm>
            <a:off x="429768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Levent towers</a:t>
            </a:r>
            <a:endParaRPr lang="en-US" sz="1300" dirty="0"/>
          </a:p>
        </p:txBody>
      </p:sp>
      <p:pic>
        <p:nvPicPr>
          <p:cNvPr id="7" name="shot" descr="C:\Users\arif.asiroglu\AppData\Local\Temp\claude\C--Users-arif-asiroglu-Traffic-Intelligence\5c2796c9-d62b-4927-99f5-a4916ca8f74d\scratchpad\shots\zincirlikuyu_c.png">    </p:cNvPr>
          <p:cNvPicPr>
            <a:picLocks noChangeAspect="1"/>
          </p:cNvPicPr>
          <p:nvPr/>
        </p:nvPicPr>
        <p:blipFill>
          <a:blip r:embed="rId3"/>
          <a:srcRect l="0" r="0" t="0" b="0"/>
          <a:stretch/>
        </p:blipFill>
        <p:spPr>
          <a:xfrm>
            <a:off x="8046720" y="1325880"/>
            <a:ext cx="3520440" cy="3886200"/>
          </a:xfrm>
          <a:prstGeom prst="rect">
            <a:avLst/>
          </a:prstGeom>
        </p:spPr>
      </p:pic>
      <p:sp>
        <p:nvSpPr>
          <p:cNvPr id="8" name="Text 3"/>
          <p:cNvSpPr txBox="1"/>
          <p:nvPr/>
        </p:nvSpPr>
        <p:spPr>
          <a:xfrm>
            <a:off x="8046720" y="5257800"/>
            <a:ext cx="3520440" cy="320040"/>
          </a:xfrm>
          <a:prstGeom prst="rect">
            <a:avLst/>
          </a:prstGeom>
          <a:noFill/>
          <a:ln/>
        </p:spPr>
        <p:txBody>
          <a:bodyPr wrap="square" lIns="0" tIns="0" rIns="0" bIns="0" rtlCol="0" anchor="ctr"/>
          <a:lstStyle/>
          <a:p>
            <a:pPr indent="0" marL="0">
              <a:buNone/>
            </a:pPr>
            <a:r>
              <a:rPr lang="en-US" sz="1300" dirty="0">
                <a:solidFill>
                  <a:srgbClr val="8A94A6"/>
                </a:solidFill>
              </a:rPr>
              <a:t>Zincirlikuyu junction</a:t>
            </a:r>
            <a:endParaRPr lang="en-US" sz="1300" dirty="0"/>
          </a:p>
        </p:txBody>
      </p:sp>
      <p:sp>
        <p:nvSpPr>
          <p:cNvPr id="9" name="Text 4"/>
          <p:cNvSpPr txBox="1"/>
          <p:nvPr/>
        </p:nvSpPr>
        <p:spPr>
          <a:xfrm>
            <a:off x="548640" y="5760720"/>
            <a:ext cx="10972800" cy="411480"/>
          </a:xfrm>
          <a:prstGeom prst="rect">
            <a:avLst/>
          </a:prstGeom>
          <a:noFill/>
          <a:ln/>
        </p:spPr>
        <p:txBody>
          <a:bodyPr wrap="square" lIns="0" tIns="0" rIns="0" bIns="0" rtlCol="0" anchor="ctr"/>
          <a:lstStyle/>
          <a:p>
            <a:pPr indent="0" marL="0">
              <a:buNone/>
            </a:pPr>
            <a:r>
              <a:rPr lang="en-US" sz="1600" b="1" dirty="0">
                <a:solidFill>
                  <a:schemeClr val="tx2"/>
                </a:solidFill>
              </a:rPr>
              <a:t>38,000 buildings · 1,170 km of roads · runs in a web browser · roads coloured by live İBB speeds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Step 2 · Work backwards from speeds to trips</a:t>
            </a:r>
            <a:endParaRPr lang="en-US" sz="3400" dirty="0"/>
          </a:p>
        </p:txBody>
      </p:sp>
      <p:pic>
        <p:nvPicPr>
          <p:cNvPr id="3" name="zones-map" descr="C:\Users\arif.asiroglu\Traffic_Intelligence\procedural-istanbul\docs\sunum\img\koridor-harita-en.png">    </p:cNvPr>
          <p:cNvPicPr>
            <a:picLocks noChangeAspect="1"/>
          </p:cNvPicPr>
          <p:nvPr/>
        </p:nvPicPr>
        <p:blipFill>
          <a:blip r:embed="rId1"/>
          <a:srcRect l="0" r="0" t="0" b="0"/>
          <a:stretch/>
        </p:blipFill>
        <p:spPr>
          <a:xfrm>
            <a:off x="548640" y="1280160"/>
            <a:ext cx="4526280" cy="5029200"/>
          </a:xfrm>
          <a:prstGeom prst="rect">
            <a:avLst/>
          </a:prstGeom>
        </p:spPr>
      </p:pic>
      <p:sp>
        <p:nvSpPr>
          <p:cNvPr id="4" name="icon-circle"/>
          <p:cNvSpPr/>
          <p:nvPr/>
        </p:nvSpPr>
        <p:spPr>
          <a:xfrm>
            <a:off x="5486400" y="1417320"/>
            <a:ext cx="566928" cy="566928"/>
          </a:xfrm>
          <a:prstGeom prst="ellipse">
            <a:avLst/>
          </a:prstGeom>
          <a:solidFill>
            <a:srgbClr val="1F7A8C"/>
          </a:solidFill>
          <a:ln w="12700">
            <a:solidFill>
              <a:srgbClr val="1F7A8C"/>
            </a:solidFill>
            <a:prstDash val="solid"/>
          </a:ln>
        </p:spPr>
      </p:sp>
      <p:pic>
        <p:nvPicPr>
          <p:cNvPr id="5" name="icon" descr="preencoded.png">    </p:cNvPr>
          <p:cNvPicPr>
            <a:picLocks noChangeAspect="1"/>
          </p:cNvPicPr>
          <p:nvPr/>
        </p:nvPicPr>
        <p:blipFill>
          <a:blip r:embed="rId2"/>
          <a:stretch>
            <a:fillRect/>
          </a:stretch>
        </p:blipFill>
        <p:spPr>
          <a:xfrm>
            <a:off x="5628132" y="1559052"/>
            <a:ext cx="283464" cy="283464"/>
          </a:xfrm>
          <a:prstGeom prst="rect">
            <a:avLst/>
          </a:prstGeom>
        </p:spPr>
      </p:pic>
      <p:sp>
        <p:nvSpPr>
          <p:cNvPr id="6" name="Text 2"/>
          <p:cNvSpPr txBox="1"/>
          <p:nvPr/>
        </p:nvSpPr>
        <p:spPr>
          <a:xfrm>
            <a:off x="6217920" y="1371600"/>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95 areas</a:t>
            </a:r>
            <a:endParaRPr lang="en-US" sz="1800" dirty="0"/>
          </a:p>
        </p:txBody>
      </p:sp>
      <p:sp>
        <p:nvSpPr>
          <p:cNvPr id="7" name="Text 3"/>
          <p:cNvSpPr txBox="1"/>
          <p:nvPr/>
        </p:nvSpPr>
        <p:spPr>
          <a:xfrm>
            <a:off x="6217920" y="1755648"/>
            <a:ext cx="5394960" cy="731520"/>
          </a:xfrm>
          <a:prstGeom prst="rect">
            <a:avLst/>
          </a:prstGeom>
          <a:noFill/>
          <a:ln/>
        </p:spPr>
        <p:txBody>
          <a:bodyPr wrap="square" lIns="0" tIns="0" rIns="0" bIns="0" rtlCol="0" anchor="t"/>
          <a:lstStyle/>
          <a:p>
            <a:pPr indent="0" marL="0">
              <a:buNone/>
            </a:pPr>
            <a:r>
              <a:rPr lang="en-US" sz="1400" dirty="0">
                <a:solidFill>
                  <a:schemeClr val="tx2"/>
                </a:solidFill>
              </a:rPr>
              <a:t>75 hexagons inside the corridor and 20 “gates” where big roads cross its edge, like the bridge</a:t>
            </a:r>
            <a:endParaRPr lang="en-US" sz="1400" dirty="0"/>
          </a:p>
        </p:txBody>
      </p:sp>
      <p:sp>
        <p:nvSpPr>
          <p:cNvPr id="8" name="icon-circle"/>
          <p:cNvSpPr/>
          <p:nvPr/>
        </p:nvSpPr>
        <p:spPr>
          <a:xfrm>
            <a:off x="5486400" y="2624328"/>
            <a:ext cx="566928" cy="566928"/>
          </a:xfrm>
          <a:prstGeom prst="ellipse">
            <a:avLst/>
          </a:prstGeom>
          <a:solidFill>
            <a:srgbClr val="1F7A8C"/>
          </a:solidFill>
          <a:ln w="12700">
            <a:solidFill>
              <a:srgbClr val="1F7A8C"/>
            </a:solidFill>
            <a:prstDash val="solid"/>
          </a:ln>
        </p:spPr>
      </p:sp>
      <p:pic>
        <p:nvPicPr>
          <p:cNvPr id="9" name="icon" descr="preencoded.png">    </p:cNvPr>
          <p:cNvPicPr>
            <a:picLocks noChangeAspect="1"/>
          </p:cNvPicPr>
          <p:nvPr/>
        </p:nvPicPr>
        <p:blipFill>
          <a:blip r:embed="rId3"/>
          <a:stretch>
            <a:fillRect/>
          </a:stretch>
        </p:blipFill>
        <p:spPr>
          <a:xfrm>
            <a:off x="5628132" y="2766060"/>
            <a:ext cx="283464" cy="283464"/>
          </a:xfrm>
          <a:prstGeom prst="rect">
            <a:avLst/>
          </a:prstGeom>
        </p:spPr>
      </p:pic>
      <p:sp>
        <p:nvSpPr>
          <p:cNvPr id="10" name="Text 5"/>
          <p:cNvSpPr txBox="1"/>
          <p:nvPr/>
        </p:nvSpPr>
        <p:spPr>
          <a:xfrm>
            <a:off x="6217920" y="2578608"/>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9,025 possible trips</a:t>
            </a:r>
            <a:endParaRPr lang="en-US" sz="1800" dirty="0"/>
          </a:p>
        </p:txBody>
      </p:sp>
      <p:sp>
        <p:nvSpPr>
          <p:cNvPr id="11" name="Text 6"/>
          <p:cNvSpPr txBox="1"/>
          <p:nvPr/>
        </p:nvSpPr>
        <p:spPr>
          <a:xfrm>
            <a:off x="6217920" y="2962656"/>
            <a:ext cx="5394960" cy="731520"/>
          </a:xfrm>
          <a:prstGeom prst="rect">
            <a:avLst/>
          </a:prstGeom>
          <a:noFill/>
          <a:ln/>
        </p:spPr>
        <p:txBody>
          <a:bodyPr wrap="square" lIns="0" tIns="0" rIns="0" bIns="0" rtlCol="0" anchor="t"/>
          <a:lstStyle/>
          <a:p>
            <a:pPr indent="0" marL="0">
              <a:buNone/>
            </a:pPr>
            <a:r>
              <a:rPr lang="en-US" sz="1400" dirty="0">
                <a:solidFill>
                  <a:schemeClr val="tx2"/>
                </a:solidFill>
              </a:rPr>
              <a:t>every area to every other area; far more unknowns than measurements</a:t>
            </a:r>
            <a:endParaRPr lang="en-US" sz="1400" dirty="0"/>
          </a:p>
        </p:txBody>
      </p:sp>
      <p:sp>
        <p:nvSpPr>
          <p:cNvPr id="12" name="icon-circle"/>
          <p:cNvSpPr/>
          <p:nvPr/>
        </p:nvSpPr>
        <p:spPr>
          <a:xfrm>
            <a:off x="5486400" y="3831336"/>
            <a:ext cx="566928" cy="566928"/>
          </a:xfrm>
          <a:prstGeom prst="ellipse">
            <a:avLst/>
          </a:prstGeom>
          <a:solidFill>
            <a:srgbClr val="1F7A8C"/>
          </a:solidFill>
          <a:ln w="12700">
            <a:solidFill>
              <a:srgbClr val="1F7A8C"/>
            </a:solidFill>
            <a:prstDash val="solid"/>
          </a:ln>
        </p:spPr>
      </p:sp>
      <p:pic>
        <p:nvPicPr>
          <p:cNvPr id="13" name="icon" descr="preencoded.png">    </p:cNvPr>
          <p:cNvPicPr>
            <a:picLocks noChangeAspect="1"/>
          </p:cNvPicPr>
          <p:nvPr/>
        </p:nvPicPr>
        <p:blipFill>
          <a:blip r:embed="rId4"/>
          <a:stretch>
            <a:fillRect/>
          </a:stretch>
        </p:blipFill>
        <p:spPr>
          <a:xfrm>
            <a:off x="5628132" y="3973068"/>
            <a:ext cx="283464" cy="283464"/>
          </a:xfrm>
          <a:prstGeom prst="rect">
            <a:avLst/>
          </a:prstGeom>
        </p:spPr>
      </p:pic>
      <p:sp>
        <p:nvSpPr>
          <p:cNvPr id="14" name="Text 8"/>
          <p:cNvSpPr txBox="1"/>
          <p:nvPr/>
        </p:nvSpPr>
        <p:spPr>
          <a:xfrm>
            <a:off x="6217920" y="3785616"/>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A first guess</a:t>
            </a:r>
            <a:endParaRPr lang="en-US" sz="1800" dirty="0"/>
          </a:p>
        </p:txBody>
      </p:sp>
      <p:sp>
        <p:nvSpPr>
          <p:cNvPr id="15" name="Text 9"/>
          <p:cNvSpPr txBox="1"/>
          <p:nvPr/>
        </p:nvSpPr>
        <p:spPr>
          <a:xfrm>
            <a:off x="6217920" y="4169664"/>
            <a:ext cx="5394960" cy="731520"/>
          </a:xfrm>
          <a:prstGeom prst="rect">
            <a:avLst/>
          </a:prstGeom>
          <a:noFill/>
          <a:ln/>
        </p:spPr>
        <p:txBody>
          <a:bodyPr wrap="square" lIns="0" tIns="0" rIns="0" bIns="0" rtlCol="0" anchor="t"/>
          <a:lstStyle/>
          <a:p>
            <a:pPr indent="0" marL="0">
              <a:buNone/>
            </a:pPr>
            <a:r>
              <a:rPr lang="en-US" sz="1400" dirty="0">
                <a:solidFill>
                  <a:schemeClr val="tx2"/>
                </a:solidFill>
              </a:rPr>
              <a:t>from buildings and shops: “this area sends out so many cars”</a:t>
            </a:r>
            <a:endParaRPr lang="en-US" sz="1400" dirty="0"/>
          </a:p>
        </p:txBody>
      </p:sp>
      <p:sp>
        <p:nvSpPr>
          <p:cNvPr id="16" name="icon-circle"/>
          <p:cNvSpPr/>
          <p:nvPr/>
        </p:nvSpPr>
        <p:spPr>
          <a:xfrm>
            <a:off x="5486400" y="5038344"/>
            <a:ext cx="566928" cy="566928"/>
          </a:xfrm>
          <a:prstGeom prst="ellipse">
            <a:avLst/>
          </a:prstGeom>
          <a:solidFill>
            <a:srgbClr val="1F7A8C"/>
          </a:solidFill>
          <a:ln w="12700">
            <a:solidFill>
              <a:srgbClr val="1F7A8C"/>
            </a:solidFill>
            <a:prstDash val="solid"/>
          </a:ln>
        </p:spPr>
      </p:sp>
      <p:pic>
        <p:nvPicPr>
          <p:cNvPr id="17" name="icon" descr="preencoded.png">    </p:cNvPr>
          <p:cNvPicPr>
            <a:picLocks noChangeAspect="1"/>
          </p:cNvPicPr>
          <p:nvPr/>
        </p:nvPicPr>
        <p:blipFill>
          <a:blip r:embed="rId5"/>
          <a:stretch>
            <a:fillRect/>
          </a:stretch>
        </p:blipFill>
        <p:spPr>
          <a:xfrm>
            <a:off x="5628132" y="5180076"/>
            <a:ext cx="283464" cy="283464"/>
          </a:xfrm>
          <a:prstGeom prst="rect">
            <a:avLst/>
          </a:prstGeom>
        </p:spPr>
      </p:pic>
      <p:sp>
        <p:nvSpPr>
          <p:cNvPr id="18" name="Text 11"/>
          <p:cNvSpPr txBox="1"/>
          <p:nvPr/>
        </p:nvSpPr>
        <p:spPr>
          <a:xfrm>
            <a:off x="6217920" y="4992624"/>
            <a:ext cx="5394960" cy="365760"/>
          </a:xfrm>
          <a:prstGeom prst="rect">
            <a:avLst/>
          </a:prstGeom>
          <a:noFill/>
          <a:ln/>
        </p:spPr>
        <p:txBody>
          <a:bodyPr wrap="square" lIns="0" tIns="0" rIns="0" bIns="0" rtlCol="0" anchor="ctr"/>
          <a:lstStyle/>
          <a:p>
            <a:pPr indent="0" marL="0">
              <a:buNone/>
            </a:pPr>
            <a:r>
              <a:rPr lang="en-US" sz="1800" b="1" dirty="0">
                <a:solidFill>
                  <a:schemeClr val="tx1"/>
                </a:solidFill>
              </a:rPr>
              <a:t>Then the data corrects it</a:t>
            </a:r>
            <a:endParaRPr lang="en-US" sz="1800" dirty="0"/>
          </a:p>
        </p:txBody>
      </p:sp>
      <p:sp>
        <p:nvSpPr>
          <p:cNvPr id="19" name="Text 12"/>
          <p:cNvSpPr txBox="1"/>
          <p:nvPr/>
        </p:nvSpPr>
        <p:spPr>
          <a:xfrm>
            <a:off x="6217920" y="5376672"/>
            <a:ext cx="5394960" cy="731520"/>
          </a:xfrm>
          <a:prstGeom prst="rect">
            <a:avLst/>
          </a:prstGeom>
          <a:noFill/>
          <a:ln/>
        </p:spPr>
        <p:txBody>
          <a:bodyPr wrap="square" lIns="0" tIns="0" rIns="0" bIns="0" rtlCol="0" anchor="t"/>
          <a:lstStyle/>
          <a:p>
            <a:pPr indent="0" marL="0">
              <a:buNone/>
            </a:pPr>
            <a:r>
              <a:rPr lang="en-US" sz="1400" dirty="0">
                <a:solidFill>
                  <a:schemeClr val="tx2"/>
                </a:solidFill>
              </a:rPr>
              <a:t>and for every number we report how much came from data and how much from the guess</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Key finding: our first guess had almost twice the cars</a:t>
            </a:r>
            <a:endParaRPr lang="en-US" sz="3400" dirty="0"/>
          </a:p>
        </p:txBody>
      </p:sp>
      <p:sp>
        <p:nvSpPr>
          <p:cNvPr id="3" name="Text 1"/>
          <p:cNvSpPr txBox="1"/>
          <p:nvPr/>
        </p:nvSpPr>
        <p:spPr>
          <a:xfrm>
            <a:off x="548640" y="1371600"/>
            <a:ext cx="3017520" cy="1463040"/>
          </a:xfrm>
          <a:prstGeom prst="rect">
            <a:avLst/>
          </a:prstGeom>
          <a:noFill/>
          <a:ln/>
        </p:spPr>
        <p:txBody>
          <a:bodyPr wrap="square" lIns="0" tIns="0" rIns="0" bIns="0" rtlCol="0" anchor="ctr"/>
          <a:lstStyle/>
          <a:p>
            <a:pPr indent="0" marL="0">
              <a:buNone/>
            </a:pPr>
            <a:r>
              <a:rPr lang="en-US" sz="9600" b="1" dirty="0">
                <a:solidFill>
                  <a:schemeClr val="accent4"/>
                </a:solidFill>
              </a:rPr>
              <a:t>2×</a:t>
            </a:r>
            <a:endParaRPr lang="en-US" sz="9600" dirty="0"/>
          </a:p>
        </p:txBody>
      </p:sp>
      <p:sp>
        <p:nvSpPr>
          <p:cNvPr id="4" name="Text 2"/>
          <p:cNvSpPr txBox="1"/>
          <p:nvPr/>
        </p:nvSpPr>
        <p:spPr>
          <a:xfrm>
            <a:off x="548640" y="2880360"/>
            <a:ext cx="3840480" cy="822960"/>
          </a:xfrm>
          <a:prstGeom prst="rect">
            <a:avLst/>
          </a:prstGeom>
          <a:noFill/>
          <a:ln/>
        </p:spPr>
        <p:txBody>
          <a:bodyPr wrap="square" lIns="0" tIns="0" rIns="0" bIns="0" rtlCol="0" anchor="t"/>
          <a:lstStyle/>
          <a:p>
            <a:pPr indent="0" marL="0">
              <a:buNone/>
            </a:pPr>
            <a:r>
              <a:rPr lang="en-US" sz="1800" dirty="0">
                <a:solidFill>
                  <a:schemeClr val="tx1"/>
                </a:solidFill>
              </a:rPr>
              <a:t>almost twice as many cars as the counts allow, in a first guess built only from buildings</a:t>
            </a:r>
            <a:endParaRPr lang="en-US" sz="1800" dirty="0"/>
          </a:p>
        </p:txBody>
      </p:sp>
      <p:sp>
        <p:nvSpPr>
          <p:cNvPr id="5" name="Text 3"/>
          <p:cNvSpPr txBox="1"/>
          <p:nvPr/>
        </p:nvSpPr>
        <p:spPr>
          <a:xfrm>
            <a:off x="548640" y="3840480"/>
            <a:ext cx="4206240" cy="2103120"/>
          </a:xfrm>
          <a:prstGeom prst="rect">
            <a:avLst/>
          </a:prstGeom>
          <a:noFill/>
          <a:ln/>
        </p:spPr>
        <p:txBody>
          <a:bodyPr wrap="square" lIns="0" tIns="0" rIns="0" bIns="0" rtlCol="0" anchor="t"/>
          <a:lstStyle/>
          <a:p>
            <a:pPr indent="0" marL="0">
              <a:buNone/>
            </a:pPr>
            <a:r>
              <a:rPr lang="en-US" sz="1500" dirty="0">
                <a:solidFill>
                  <a:schemeClr val="tx2"/>
                </a:solidFill>
              </a:rPr>
              <a:t>When we fed the first guess into the simulator, the whole network locked up. The counts showed why: the city was simply too full of imaginary cars. Now the total is set by measurements, not by guesses.</a:t>
            </a:r>
            <a:endParaRPr lang="en-US" sz="1500" dirty="0"/>
          </a:p>
        </p:txBody>
      </p:sp>
      <p:graphicFrame>
        <p:nvGraphicFramePr>
          <p:cNvPr id="6" name="Chart 0" descr=""/>
          <p:cNvGraphicFramePr/>
          <p:nvPr/>
        </p:nvGraphicFramePr>
        <p:xfrm>
          <a:off x="5120640" y="1280160"/>
          <a:ext cx="649224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Checking honestly: hide the answer, then predict it</a:t>
            </a:r>
            <a:endParaRPr lang="en-US" sz="3400" dirty="0"/>
          </a:p>
        </p:txBody>
      </p:sp>
      <p:sp>
        <p:nvSpPr>
          <p:cNvPr id="3" name="icon-circle"/>
          <p:cNvSpPr/>
          <p:nvPr/>
        </p:nvSpPr>
        <p:spPr>
          <a:xfrm>
            <a:off x="548640" y="1463040"/>
            <a:ext cx="914400" cy="914400"/>
          </a:xfrm>
          <a:prstGeom prst="ellipse">
            <a:avLst/>
          </a:prstGeom>
          <a:solidFill>
            <a:srgbClr val="E8963D"/>
          </a:solidFill>
          <a:ln w="12700">
            <a:solidFill>
              <a:srgbClr val="E8963D"/>
            </a:solidFill>
            <a:prstDash val="solid"/>
          </a:ln>
        </p:spPr>
      </p:sp>
      <p:pic>
        <p:nvPicPr>
          <p:cNvPr id="4" name="icon" descr="preencoded.png">    </p:cNvPr>
          <p:cNvPicPr>
            <a:picLocks noChangeAspect="1"/>
          </p:cNvPicPr>
          <p:nvPr/>
        </p:nvPicPr>
        <p:blipFill>
          <a:blip r:embed="rId1"/>
          <a:stretch>
            <a:fillRect/>
          </a:stretch>
        </p:blipFill>
        <p:spPr>
          <a:xfrm>
            <a:off x="777240" y="1691640"/>
            <a:ext cx="457200" cy="457200"/>
          </a:xfrm>
          <a:prstGeom prst="rect">
            <a:avLst/>
          </a:prstGeom>
        </p:spPr>
      </p:pic>
      <p:sp>
        <p:nvSpPr>
          <p:cNvPr id="5" name="Text 2"/>
          <p:cNvSpPr txBox="1"/>
          <p:nvPr/>
        </p:nvSpPr>
        <p:spPr>
          <a:xfrm>
            <a:off x="1691640" y="1463040"/>
            <a:ext cx="4572000" cy="457200"/>
          </a:xfrm>
          <a:prstGeom prst="rect">
            <a:avLst/>
          </a:prstGeom>
          <a:noFill/>
          <a:ln/>
        </p:spPr>
        <p:txBody>
          <a:bodyPr wrap="square" lIns="0" tIns="0" rIns="0" bIns="0" rtlCol="0" anchor="ctr"/>
          <a:lstStyle/>
          <a:p>
            <a:pPr indent="0" marL="0">
              <a:buNone/>
            </a:pPr>
            <a:r>
              <a:rPr lang="en-US" sz="2000" b="1" dirty="0">
                <a:solidFill>
                  <a:schemeClr val="tx1"/>
                </a:solidFill>
              </a:rPr>
              <a:t>Like an exam you have not seen</a:t>
            </a:r>
            <a:endParaRPr lang="en-US" sz="2000" dirty="0"/>
          </a:p>
        </p:txBody>
      </p:sp>
      <p:sp>
        <p:nvSpPr>
          <p:cNvPr id="6" name="Text 3"/>
          <p:cNvSpPr txBox="1"/>
          <p:nvPr/>
        </p:nvSpPr>
        <p:spPr>
          <a:xfrm>
            <a:off x="1691640" y="1920240"/>
            <a:ext cx="4572000" cy="1280160"/>
          </a:xfrm>
          <a:prstGeom prst="rect">
            <a:avLst/>
          </a:prstGeom>
          <a:noFill/>
          <a:ln/>
        </p:spPr>
        <p:txBody>
          <a:bodyPr wrap="square" lIns="0" tIns="0" rIns="0" bIns="0" rtlCol="0" anchor="t"/>
          <a:lstStyle/>
          <a:p>
            <a:pPr indent="0" marL="0">
              <a:buNone/>
            </a:pPr>
            <a:r>
              <a:rPr lang="en-US" sz="1500" dirty="0">
                <a:solidFill>
                  <a:schemeClr val="tx2"/>
                </a:solidFill>
              </a:rPr>
              <a:t>We hide one car counter, build the model without it, predict that counter, and compare with the real number. Then we repeat for every counter.</a:t>
            </a:r>
            <a:endParaRPr lang="en-US" sz="1500" dirty="0"/>
          </a:p>
        </p:txBody>
      </p:sp>
      <p:sp>
        <p:nvSpPr>
          <p:cNvPr id="7" name="Text 4"/>
          <p:cNvSpPr txBox="1"/>
          <p:nvPr/>
        </p:nvSpPr>
        <p:spPr>
          <a:xfrm>
            <a:off x="1691640" y="3246120"/>
            <a:ext cx="4572000" cy="914400"/>
          </a:xfrm>
          <a:prstGeom prst="rect">
            <a:avLst/>
          </a:prstGeom>
          <a:noFill/>
          <a:ln/>
        </p:spPr>
        <p:txBody>
          <a:bodyPr wrap="square" lIns="0" tIns="0" rIns="0" bIns="0" rtlCol="0" anchor="t"/>
          <a:lstStyle/>
          <a:p>
            <a:pPr indent="0" marL="0">
              <a:buNone/>
            </a:pPr>
            <a:r>
              <a:rPr lang="en-US" sz="1500" dirty="0">
                <a:solidFill>
                  <a:schemeClr val="tx2"/>
                </a:solidFill>
              </a:rPr>
              <a:t>The score is called GEH: below 5 is a good match. The usual target is below 5 on 85 % of counters.</a:t>
            </a:r>
            <a:endParaRPr lang="en-US" sz="1500" dirty="0"/>
          </a:p>
        </p:txBody>
      </p:sp>
      <p:sp>
        <p:nvSpPr>
          <p:cNvPr id="8" name="honest"/>
          <p:cNvSpPr/>
          <p:nvPr/>
        </p:nvSpPr>
        <p:spPr>
          <a:xfrm>
            <a:off x="548640" y="4434840"/>
            <a:ext cx="5715000" cy="1508760"/>
          </a:xfrm>
          <a:prstGeom prst="roundRect">
            <a:avLst>
              <a:gd name="adj" fmla="val 9091"/>
            </a:avLst>
          </a:prstGeom>
          <a:solidFill>
            <a:schemeClr val="bg2"/>
          </a:solidFill>
          <a:ln w="12700">
            <a:solidFill>
              <a:schemeClr val="bg2"/>
            </a:solidFill>
            <a:prstDash val="solid"/>
          </a:ln>
        </p:spPr>
      </p:sp>
      <p:sp>
        <p:nvSpPr>
          <p:cNvPr id="9" name="Text 6"/>
          <p:cNvSpPr txBox="1"/>
          <p:nvPr/>
        </p:nvSpPr>
        <p:spPr>
          <a:xfrm>
            <a:off x="777240" y="4572000"/>
            <a:ext cx="5303520" cy="1234440"/>
          </a:xfrm>
          <a:prstGeom prst="rect">
            <a:avLst/>
          </a:prstGeom>
          <a:noFill/>
          <a:ln/>
        </p:spPr>
        <p:txBody>
          <a:bodyPr wrap="square" lIns="0" tIns="0" rIns="0" bIns="0" rtlCol="0" anchor="ctr"/>
          <a:lstStyle/>
          <a:p>
            <a:pPr indent="0" marL="0">
              <a:buNone/>
            </a:pPr>
            <a:r>
              <a:rPr lang="en-US" sz="1500" b="1" dirty="0">
                <a:solidFill>
                  <a:schemeClr val="accent4"/>
                </a:solidFill>
              </a:rPr>
              <a:t>Honest result: </a:t>
            </a:r>
            <a:pPr indent="0" marL="0">
              <a:buNone/>
            </a:pPr>
            <a:r>
              <a:rPr lang="en-US" sz="1500" dirty="0">
                <a:solidFill>
                  <a:schemeClr val="tx1"/>
                </a:solidFill>
              </a:rPr>
              <a:t>the total is right, but where the cars go is not yet right. Only about 1 counter in 10 is predicted well. We report this openly.</a:t>
            </a:r>
            <a:endParaRPr lang="en-US" sz="1500" dirty="0"/>
          </a:p>
        </p:txBody>
      </p:sp>
      <p:graphicFrame>
        <p:nvGraphicFramePr>
          <p:cNvPr id="10" name="Chart 0" descr=""/>
          <p:cNvGraphicFramePr/>
          <p:nvPr/>
        </p:nvGraphicFramePr>
        <p:xfrm>
          <a:off x="6583680" y="1280160"/>
          <a:ext cx="5029200" cy="484632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What if the motorway closes? Ask the simulator first</a:t>
            </a:r>
            <a:endParaRPr lang="en-US" sz="3400" dirty="0"/>
          </a:p>
        </p:txBody>
      </p:sp>
      <p:sp>
        <p:nvSpPr>
          <p:cNvPr id="3" name="Text 1"/>
          <p:cNvSpPr txBox="1"/>
          <p:nvPr/>
        </p:nvSpPr>
        <p:spPr>
          <a:xfrm>
            <a:off x="548640" y="1325880"/>
            <a:ext cx="4754880" cy="1280160"/>
          </a:xfrm>
          <a:prstGeom prst="rect">
            <a:avLst/>
          </a:prstGeom>
          <a:noFill/>
          <a:ln/>
        </p:spPr>
        <p:txBody>
          <a:bodyPr wrap="square" lIns="0" tIns="0" rIns="0" bIns="0" rtlCol="0" anchor="t"/>
          <a:lstStyle/>
          <a:p>
            <a:pPr indent="0" marL="0">
              <a:buNone/>
            </a:pPr>
            <a:r>
              <a:rPr lang="en-US" sz="1600" dirty="0">
                <a:solidFill>
                  <a:schemeClr val="tx1"/>
                </a:solidFill>
              </a:rPr>
              <a:t>At the moment of an accident we take a “snapshot” of all traffic, then play several futures from the same snapshot, much faster than real time.</a:t>
            </a:r>
            <a:endParaRPr lang="en-US" sz="1600" dirty="0"/>
          </a:p>
        </p:txBody>
      </p:sp>
      <p:sp>
        <p:nvSpPr>
          <p:cNvPr id="4" name="icon-circle"/>
          <p:cNvSpPr/>
          <p:nvPr/>
        </p:nvSpPr>
        <p:spPr>
          <a:xfrm>
            <a:off x="548640" y="2743200"/>
            <a:ext cx="640080" cy="640080"/>
          </a:xfrm>
          <a:prstGeom prst="ellipse">
            <a:avLst/>
          </a:prstGeom>
          <a:solidFill>
            <a:srgbClr val="8A94A6"/>
          </a:solidFill>
          <a:ln w="12700">
            <a:solidFill>
              <a:srgbClr val="8A94A6"/>
            </a:solidFill>
            <a:prstDash val="solid"/>
          </a:ln>
        </p:spPr>
      </p:sp>
      <p:pic>
        <p:nvPicPr>
          <p:cNvPr id="5" name="icon" descr="preencoded.png">    </p:cNvPr>
          <p:cNvPicPr>
            <a:picLocks noChangeAspect="1"/>
          </p:cNvPicPr>
          <p:nvPr/>
        </p:nvPicPr>
        <p:blipFill>
          <a:blip r:embed="rId1"/>
          <a:stretch>
            <a:fillRect/>
          </a:stretch>
        </p:blipFill>
        <p:spPr>
          <a:xfrm>
            <a:off x="708660" y="2903220"/>
            <a:ext cx="320040" cy="320040"/>
          </a:xfrm>
          <a:prstGeom prst="rect">
            <a:avLst/>
          </a:prstGeom>
        </p:spPr>
      </p:pic>
      <p:sp>
        <p:nvSpPr>
          <p:cNvPr id="6" name="Text 3"/>
          <p:cNvSpPr txBox="1"/>
          <p:nvPr/>
        </p:nvSpPr>
        <p:spPr>
          <a:xfrm>
            <a:off x="1371600" y="2743200"/>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Road stays open</a:t>
            </a:r>
            <a:endParaRPr lang="en-US" sz="1600" dirty="0"/>
          </a:p>
        </p:txBody>
      </p:sp>
      <p:sp>
        <p:nvSpPr>
          <p:cNvPr id="7" name="Text 4"/>
          <p:cNvSpPr txBox="1"/>
          <p:nvPr/>
        </p:nvSpPr>
        <p:spPr>
          <a:xfrm>
            <a:off x="1371600" y="3072384"/>
            <a:ext cx="3931920" cy="310896"/>
          </a:xfrm>
          <a:prstGeom prst="rect">
            <a:avLst/>
          </a:prstGeom>
          <a:noFill/>
          <a:ln/>
        </p:spPr>
        <p:txBody>
          <a:bodyPr wrap="square" lIns="0" tIns="0" rIns="0" bIns="0" rtlCol="0" anchor="ctr"/>
          <a:lstStyle/>
          <a:p>
            <a:pPr indent="0" marL="0">
              <a:buNone/>
            </a:pPr>
            <a:r>
              <a:rPr lang="en-US" sz="1300" dirty="0">
                <a:solidFill>
                  <a:schemeClr val="tx2"/>
                </a:solidFill>
              </a:rPr>
              <a:t>the reference</a:t>
            </a:r>
            <a:endParaRPr lang="en-US" sz="1300" dirty="0"/>
          </a:p>
        </p:txBody>
      </p:sp>
      <p:sp>
        <p:nvSpPr>
          <p:cNvPr id="8" name="icon-circle"/>
          <p:cNvSpPr/>
          <p:nvPr/>
        </p:nvSpPr>
        <p:spPr>
          <a:xfrm>
            <a:off x="548640" y="3639312"/>
            <a:ext cx="640080" cy="640080"/>
          </a:xfrm>
          <a:prstGeom prst="ellipse">
            <a:avLst/>
          </a:prstGeom>
          <a:solidFill>
            <a:srgbClr val="D9534F"/>
          </a:solidFill>
          <a:ln w="12700">
            <a:solidFill>
              <a:srgbClr val="D9534F"/>
            </a:solidFill>
            <a:prstDash val="solid"/>
          </a:ln>
        </p:spPr>
      </p:sp>
      <p:pic>
        <p:nvPicPr>
          <p:cNvPr id="9" name="icon" descr="preencoded.png">    </p:cNvPr>
          <p:cNvPicPr>
            <a:picLocks noChangeAspect="1"/>
          </p:cNvPicPr>
          <p:nvPr/>
        </p:nvPicPr>
        <p:blipFill>
          <a:blip r:embed="rId2"/>
          <a:stretch>
            <a:fillRect/>
          </a:stretch>
        </p:blipFill>
        <p:spPr>
          <a:xfrm>
            <a:off x="708660" y="3799332"/>
            <a:ext cx="320040" cy="320040"/>
          </a:xfrm>
          <a:prstGeom prst="rect">
            <a:avLst/>
          </a:prstGeom>
        </p:spPr>
      </p:pic>
      <p:sp>
        <p:nvSpPr>
          <p:cNvPr id="10" name="Text 6"/>
          <p:cNvSpPr txBox="1"/>
          <p:nvPr/>
        </p:nvSpPr>
        <p:spPr>
          <a:xfrm>
            <a:off x="1371600" y="3639312"/>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Drivers not told</a:t>
            </a:r>
            <a:endParaRPr lang="en-US" sz="1600" dirty="0"/>
          </a:p>
        </p:txBody>
      </p:sp>
      <p:sp>
        <p:nvSpPr>
          <p:cNvPr id="11" name="Text 7"/>
          <p:cNvSpPr txBox="1"/>
          <p:nvPr/>
        </p:nvSpPr>
        <p:spPr>
          <a:xfrm>
            <a:off x="1371600" y="3968496"/>
            <a:ext cx="3931920" cy="310896"/>
          </a:xfrm>
          <a:prstGeom prst="rect">
            <a:avLst/>
          </a:prstGeom>
          <a:noFill/>
          <a:ln/>
        </p:spPr>
        <p:txBody>
          <a:bodyPr wrap="square" lIns="0" tIns="0" rIns="0" bIns="0" rtlCol="0" anchor="ctr"/>
          <a:lstStyle/>
          <a:p>
            <a:pPr indent="0" marL="0">
              <a:buNone/>
            </a:pPr>
            <a:r>
              <a:rPr lang="en-US" sz="1300" dirty="0">
                <a:solidFill>
                  <a:schemeClr val="tx2"/>
                </a:solidFill>
              </a:rPr>
              <a:t>they find out at the closure</a:t>
            </a:r>
            <a:endParaRPr lang="en-US" sz="1300" dirty="0"/>
          </a:p>
        </p:txBody>
      </p:sp>
      <p:sp>
        <p:nvSpPr>
          <p:cNvPr id="12" name="icon-circle"/>
          <p:cNvSpPr/>
          <p:nvPr/>
        </p:nvSpPr>
        <p:spPr>
          <a:xfrm>
            <a:off x="548640" y="4535424"/>
            <a:ext cx="640080" cy="640080"/>
          </a:xfrm>
          <a:prstGeom prst="ellipse">
            <a:avLst/>
          </a:prstGeom>
          <a:solidFill>
            <a:srgbClr val="2E9E6B"/>
          </a:solidFill>
          <a:ln w="12700">
            <a:solidFill>
              <a:srgbClr val="2E9E6B"/>
            </a:solidFill>
            <a:prstDash val="solid"/>
          </a:ln>
        </p:spPr>
      </p:sp>
      <p:pic>
        <p:nvPicPr>
          <p:cNvPr id="13" name="icon" descr="preencoded.png">    </p:cNvPr>
          <p:cNvPicPr>
            <a:picLocks noChangeAspect="1"/>
          </p:cNvPicPr>
          <p:nvPr/>
        </p:nvPicPr>
        <p:blipFill>
          <a:blip r:embed="rId3"/>
          <a:stretch>
            <a:fillRect/>
          </a:stretch>
        </p:blipFill>
        <p:spPr>
          <a:xfrm>
            <a:off x="708660" y="4695444"/>
            <a:ext cx="320040" cy="320040"/>
          </a:xfrm>
          <a:prstGeom prst="rect">
            <a:avLst/>
          </a:prstGeom>
        </p:spPr>
      </p:pic>
      <p:sp>
        <p:nvSpPr>
          <p:cNvPr id="14" name="Text 9"/>
          <p:cNvSpPr txBox="1"/>
          <p:nvPr/>
        </p:nvSpPr>
        <p:spPr>
          <a:xfrm>
            <a:off x="1371600" y="4535424"/>
            <a:ext cx="3931920" cy="347472"/>
          </a:xfrm>
          <a:prstGeom prst="rect">
            <a:avLst/>
          </a:prstGeom>
          <a:noFill/>
          <a:ln/>
        </p:spPr>
        <p:txBody>
          <a:bodyPr wrap="square" lIns="0" tIns="0" rIns="0" bIns="0" rtlCol="0" anchor="ctr"/>
          <a:lstStyle/>
          <a:p>
            <a:pPr indent="0" marL="0">
              <a:buNone/>
            </a:pPr>
            <a:r>
              <a:rPr lang="en-US" sz="1600" b="1" dirty="0">
                <a:solidFill>
                  <a:schemeClr val="tx1"/>
                </a:solidFill>
              </a:rPr>
              <a:t>Drivers warned at once</a:t>
            </a:r>
            <a:endParaRPr lang="en-US" sz="1600" dirty="0"/>
          </a:p>
        </p:txBody>
      </p:sp>
      <p:sp>
        <p:nvSpPr>
          <p:cNvPr id="15" name="Text 10"/>
          <p:cNvSpPr txBox="1"/>
          <p:nvPr/>
        </p:nvSpPr>
        <p:spPr>
          <a:xfrm>
            <a:off x="1371600" y="4864608"/>
            <a:ext cx="3931920" cy="310896"/>
          </a:xfrm>
          <a:prstGeom prst="rect">
            <a:avLst/>
          </a:prstGeom>
          <a:noFill/>
          <a:ln/>
        </p:spPr>
        <p:txBody>
          <a:bodyPr wrap="square" lIns="0" tIns="0" rIns="0" bIns="0" rtlCol="0" anchor="ctr"/>
          <a:lstStyle/>
          <a:p>
            <a:pPr indent="0" marL="0">
              <a:buNone/>
            </a:pPr>
            <a:r>
              <a:rPr lang="en-US" sz="1300" dirty="0">
                <a:solidFill>
                  <a:schemeClr val="tx2"/>
                </a:solidFill>
              </a:rPr>
              <a:t>signs and navigation apps</a:t>
            </a:r>
            <a:endParaRPr lang="en-US" sz="1300" dirty="0"/>
          </a:p>
        </p:txBody>
      </p:sp>
      <p:graphicFrame>
        <p:nvGraphicFramePr>
          <p:cNvPr id="16" name="Chart 0" descr=""/>
          <p:cNvGraphicFramePr/>
          <p:nvPr/>
        </p:nvGraphicFramePr>
        <p:xfrm>
          <a:off x="5669280" y="1280160"/>
          <a:ext cx="5943600" cy="3794760"/>
        </p:xfrm>
        <a:graphic xmlns:a="http://schemas.openxmlformats.org/drawingml/2006/main">
          <a:graphicData uri="http://schemas.openxmlformats.org/drawingml/2006/chart">
            <c:chart xmlns:c="http://schemas.openxmlformats.org/drawingml/2006/chart" r:id="rId4"/>
          </a:graphicData>
        </a:graphic>
      </p:graphicFrame>
      <p:sp>
        <p:nvSpPr>
          <p:cNvPr id="17" name="verdict"/>
          <p:cNvSpPr/>
          <p:nvPr/>
        </p:nvSpPr>
        <p:spPr>
          <a:xfrm>
            <a:off x="5669280" y="5166360"/>
            <a:ext cx="5943600" cy="1143000"/>
          </a:xfrm>
          <a:prstGeom prst="roundRect">
            <a:avLst>
              <a:gd name="adj" fmla="val 12000"/>
            </a:avLst>
          </a:prstGeom>
          <a:solidFill>
            <a:schemeClr val="bg2"/>
          </a:solidFill>
          <a:ln w="12700">
            <a:solidFill>
              <a:schemeClr val="bg2"/>
            </a:solidFill>
            <a:prstDash val="solid"/>
          </a:ln>
        </p:spPr>
      </p:sp>
      <p:sp>
        <p:nvSpPr>
          <p:cNvPr id="18" name="Text 12"/>
          <p:cNvSpPr txBox="1"/>
          <p:nvPr/>
        </p:nvSpPr>
        <p:spPr>
          <a:xfrm>
            <a:off x="5852160" y="5230368"/>
            <a:ext cx="5623560" cy="1005840"/>
          </a:xfrm>
          <a:prstGeom prst="rect">
            <a:avLst/>
          </a:prstGeom>
          <a:noFill/>
          <a:ln/>
        </p:spPr>
        <p:txBody>
          <a:bodyPr wrap="square" lIns="0" tIns="0" rIns="0" bIns="0" rtlCol="0" anchor="ctr"/>
          <a:lstStyle/>
          <a:p>
            <a:pPr indent="0" marL="0">
              <a:buNone/>
            </a:pPr>
            <a:r>
              <a:rPr lang="en-US" sz="1400" b="1" dirty="0">
                <a:solidFill>
                  <a:schemeClr val="accent3"/>
                </a:solidFill>
              </a:rPr>
              <a:t>Answer: warn drivers at once. </a:t>
            </a:r>
            <a:pPr indent="0" marL="0">
              <a:buNone/>
            </a:pPr>
            <a:r>
              <a:rPr lang="en-US" sz="1400" dirty="0">
                <a:solidFill>
                  <a:schemeClr val="tx1"/>
                </a:solidFill>
              </a:rPr>
              <a:t>+735 cars get through compared with not telling them. Honest note: warned drivers also re-plan more often, and this is one run; more runs will confirm.</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From data to advice, inside the 3D twin</a:t>
            </a:r>
            <a:endParaRPr lang="en-US" sz="3400" dirty="0"/>
          </a:p>
        </p:txBody>
      </p:sp>
      <p:pic>
        <p:nvPicPr>
          <p:cNvPr id="3" name="recs-shot" descr="C:\Users\arif.asiroglu\AppData\Local\Temp\claude\C--Users-arif-asiroglu-Traffic-Intelligence\5c2796c9-d62b-4927-99f5-a4916ca8f74d\scratchpad\shots\oneriler.png">    </p:cNvPr>
          <p:cNvPicPr>
            <a:picLocks noChangeAspect="1"/>
          </p:cNvPicPr>
          <p:nvPr/>
        </p:nvPicPr>
        <p:blipFill>
          <a:blip r:embed="rId1"/>
          <a:stretch>
            <a:fillRect/>
          </a:stretch>
        </p:blipFill>
        <p:spPr>
          <a:xfrm>
            <a:off x="548640" y="1325880"/>
            <a:ext cx="6949440" cy="4343400"/>
          </a:xfrm>
          <a:prstGeom prst="rect">
            <a:avLst/>
          </a:prstGeom>
        </p:spPr>
      </p:pic>
      <p:sp>
        <p:nvSpPr>
          <p:cNvPr id="4" name="icon-circle"/>
          <p:cNvSpPr/>
          <p:nvPr/>
        </p:nvSpPr>
        <p:spPr>
          <a:xfrm>
            <a:off x="7909560" y="1417320"/>
            <a:ext cx="640080" cy="640080"/>
          </a:xfrm>
          <a:prstGeom prst="ellipse">
            <a:avLst/>
          </a:prstGeom>
          <a:solidFill>
            <a:srgbClr val="D9534F"/>
          </a:solidFill>
          <a:ln w="12700">
            <a:solidFill>
              <a:srgbClr val="D9534F"/>
            </a:solidFill>
            <a:prstDash val="solid"/>
          </a:ln>
        </p:spPr>
      </p:sp>
      <p:pic>
        <p:nvPicPr>
          <p:cNvPr id="5" name="icon" descr="preencoded.png">    </p:cNvPr>
          <p:cNvPicPr>
            <a:picLocks noChangeAspect="1"/>
          </p:cNvPicPr>
          <p:nvPr/>
        </p:nvPicPr>
        <p:blipFill>
          <a:blip r:embed="rId2"/>
          <a:stretch>
            <a:fillRect/>
          </a:stretch>
        </p:blipFill>
        <p:spPr>
          <a:xfrm>
            <a:off x="8069580" y="1577340"/>
            <a:ext cx="320040" cy="320040"/>
          </a:xfrm>
          <a:prstGeom prst="rect">
            <a:avLst/>
          </a:prstGeom>
        </p:spPr>
      </p:pic>
      <p:sp>
        <p:nvSpPr>
          <p:cNvPr id="6" name="Text 2"/>
          <p:cNvSpPr txBox="1"/>
          <p:nvPr/>
        </p:nvSpPr>
        <p:spPr>
          <a:xfrm>
            <a:off x="8732520" y="13990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Bottlenecks</a:t>
            </a:r>
            <a:endParaRPr lang="en-US" sz="1800" dirty="0"/>
          </a:p>
        </p:txBody>
      </p:sp>
      <p:sp>
        <p:nvSpPr>
          <p:cNvPr id="7" name="Text 3"/>
          <p:cNvSpPr txBox="1"/>
          <p:nvPr/>
        </p:nvSpPr>
        <p:spPr>
          <a:xfrm>
            <a:off x="8732520" y="1783080"/>
            <a:ext cx="2926080" cy="777240"/>
          </a:xfrm>
          <a:prstGeom prst="rect">
            <a:avLst/>
          </a:prstGeom>
          <a:noFill/>
          <a:ln/>
        </p:spPr>
        <p:txBody>
          <a:bodyPr wrap="square" lIns="0" tIns="0" rIns="0" bIns="0" rtlCol="0" anchor="t"/>
          <a:lstStyle/>
          <a:p>
            <a:pPr indent="0" marL="0">
              <a:buNone/>
            </a:pPr>
            <a:r>
              <a:rPr lang="en-US" sz="1400" dirty="0">
                <a:solidFill>
                  <a:schemeClr val="tx2"/>
                </a:solidFill>
              </a:rPr>
              <a:t>Roads where demand is above capacity, drawn in red on the map</a:t>
            </a:r>
            <a:endParaRPr lang="en-US" sz="1400" dirty="0"/>
          </a:p>
        </p:txBody>
      </p:sp>
      <p:sp>
        <p:nvSpPr>
          <p:cNvPr id="8" name="icon-circle"/>
          <p:cNvSpPr/>
          <p:nvPr/>
        </p:nvSpPr>
        <p:spPr>
          <a:xfrm>
            <a:off x="7909560" y="2788920"/>
            <a:ext cx="640080" cy="640080"/>
          </a:xfrm>
          <a:prstGeom prst="ellipse">
            <a:avLst/>
          </a:prstGeom>
          <a:solidFill>
            <a:srgbClr val="2E9E6B"/>
          </a:solidFill>
          <a:ln w="12700">
            <a:solidFill>
              <a:srgbClr val="2E9E6B"/>
            </a:solidFill>
            <a:prstDash val="solid"/>
          </a:ln>
        </p:spPr>
      </p:sp>
      <p:pic>
        <p:nvPicPr>
          <p:cNvPr id="9" name="icon" descr="preencoded.png">    </p:cNvPr>
          <p:cNvPicPr>
            <a:picLocks noChangeAspect="1"/>
          </p:cNvPicPr>
          <p:nvPr/>
        </p:nvPicPr>
        <p:blipFill>
          <a:blip r:embed="rId3"/>
          <a:stretch>
            <a:fillRect/>
          </a:stretch>
        </p:blipFill>
        <p:spPr>
          <a:xfrm>
            <a:off x="8069580" y="2948940"/>
            <a:ext cx="320040" cy="320040"/>
          </a:xfrm>
          <a:prstGeom prst="rect">
            <a:avLst/>
          </a:prstGeom>
        </p:spPr>
      </p:pic>
      <p:sp>
        <p:nvSpPr>
          <p:cNvPr id="10" name="Text 5"/>
          <p:cNvSpPr txBox="1"/>
          <p:nvPr/>
        </p:nvSpPr>
        <p:spPr>
          <a:xfrm>
            <a:off x="8732520" y="27706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Incidents</a:t>
            </a:r>
            <a:endParaRPr lang="en-US" sz="1800" dirty="0"/>
          </a:p>
        </p:txBody>
      </p:sp>
      <p:sp>
        <p:nvSpPr>
          <p:cNvPr id="11" name="Text 6"/>
          <p:cNvSpPr txBox="1"/>
          <p:nvPr/>
        </p:nvSpPr>
        <p:spPr>
          <a:xfrm>
            <a:off x="8732520" y="3154680"/>
            <a:ext cx="2926080" cy="777240"/>
          </a:xfrm>
          <a:prstGeom prst="rect">
            <a:avLst/>
          </a:prstGeom>
          <a:noFill/>
          <a:ln/>
        </p:spPr>
        <p:txBody>
          <a:bodyPr wrap="square" lIns="0" tIns="0" rIns="0" bIns="0" rtlCol="0" anchor="t"/>
          <a:lstStyle/>
          <a:p>
            <a:pPr indent="0" marL="0">
              <a:buNone/>
            </a:pPr>
            <a:r>
              <a:rPr lang="en-US" sz="1400" dirty="0">
                <a:solidFill>
                  <a:schemeClr val="tx2"/>
                </a:solidFill>
              </a:rPr>
              <a:t>What to do if a road closes, from the shadow simulation</a:t>
            </a:r>
            <a:endParaRPr lang="en-US" sz="1400" dirty="0"/>
          </a:p>
        </p:txBody>
      </p:sp>
      <p:sp>
        <p:nvSpPr>
          <p:cNvPr id="12" name="icon-circle"/>
          <p:cNvSpPr/>
          <p:nvPr/>
        </p:nvSpPr>
        <p:spPr>
          <a:xfrm>
            <a:off x="7909560" y="4160520"/>
            <a:ext cx="640080" cy="640080"/>
          </a:xfrm>
          <a:prstGeom prst="ellipse">
            <a:avLst/>
          </a:prstGeom>
          <a:solidFill>
            <a:srgbClr val="E8963D"/>
          </a:solidFill>
          <a:ln w="12700">
            <a:solidFill>
              <a:srgbClr val="E8963D"/>
            </a:solidFill>
            <a:prstDash val="solid"/>
          </a:ln>
        </p:spPr>
      </p:sp>
      <p:pic>
        <p:nvPicPr>
          <p:cNvPr id="13" name="icon" descr="preencoded.png">    </p:cNvPr>
          <p:cNvPicPr>
            <a:picLocks noChangeAspect="1"/>
          </p:cNvPicPr>
          <p:nvPr/>
        </p:nvPicPr>
        <p:blipFill>
          <a:blip r:embed="rId4"/>
          <a:stretch>
            <a:fillRect/>
          </a:stretch>
        </p:blipFill>
        <p:spPr>
          <a:xfrm>
            <a:off x="8069580" y="4320540"/>
            <a:ext cx="320040" cy="320040"/>
          </a:xfrm>
          <a:prstGeom prst="rect">
            <a:avLst/>
          </a:prstGeom>
        </p:spPr>
      </p:pic>
      <p:sp>
        <p:nvSpPr>
          <p:cNvPr id="14" name="Text 8"/>
          <p:cNvSpPr txBox="1"/>
          <p:nvPr/>
        </p:nvSpPr>
        <p:spPr>
          <a:xfrm>
            <a:off x="8732520" y="4142232"/>
            <a:ext cx="2926080" cy="365760"/>
          </a:xfrm>
          <a:prstGeom prst="rect">
            <a:avLst/>
          </a:prstGeom>
          <a:noFill/>
          <a:ln/>
        </p:spPr>
        <p:txBody>
          <a:bodyPr wrap="square" lIns="0" tIns="0" rIns="0" bIns="0" rtlCol="0" anchor="ctr"/>
          <a:lstStyle/>
          <a:p>
            <a:pPr indent="0" marL="0">
              <a:buNone/>
            </a:pPr>
            <a:r>
              <a:rPr lang="en-US" sz="1800" b="1" dirty="0">
                <a:solidFill>
                  <a:schemeClr val="tx1"/>
                </a:solidFill>
              </a:rPr>
              <a:t>Data to check</a:t>
            </a:r>
            <a:endParaRPr lang="en-US" sz="1800" dirty="0"/>
          </a:p>
        </p:txBody>
      </p:sp>
      <p:sp>
        <p:nvSpPr>
          <p:cNvPr id="15" name="Text 9"/>
          <p:cNvSpPr txBox="1"/>
          <p:nvPr/>
        </p:nvSpPr>
        <p:spPr>
          <a:xfrm>
            <a:off x="8732520" y="4526280"/>
            <a:ext cx="2926080" cy="777240"/>
          </a:xfrm>
          <a:prstGeom prst="rect">
            <a:avLst/>
          </a:prstGeom>
          <a:noFill/>
          <a:ln/>
        </p:spPr>
        <p:txBody>
          <a:bodyPr wrap="square" lIns="0" tIns="0" rIns="0" bIns="0" rtlCol="0" anchor="t"/>
          <a:lstStyle/>
          <a:p>
            <a:pPr indent="0" marL="0">
              <a:buNone/>
            </a:pPr>
            <a:r>
              <a:rPr lang="en-US" sz="1400" dirty="0">
                <a:solidFill>
                  <a:schemeClr val="tx2"/>
                </a:solidFill>
              </a:rPr>
              <a:t>Counters whose numbers do not fit; ask İBB to confirm them</a:t>
            </a:r>
            <a:endParaRPr lang="en-US" sz="1400" dirty="0"/>
          </a:p>
        </p:txBody>
      </p:sp>
      <p:sp>
        <p:nvSpPr>
          <p:cNvPr id="16" name="Text 10"/>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500" i="1" dirty="0">
                <a:solidFill>
                  <a:schemeClr val="tx2"/>
                </a:solidFill>
              </a:rPr>
              <a:t>Every piece of advice shows the numbers it is based on. Click one, and the camera flies there.</a:t>
            </a:r>
            <a:endParaRPr lang="en-US" sz="15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Where we are: what works and what does not yet</a:t>
            </a:r>
            <a:endParaRPr lang="en-US" sz="3400" dirty="0"/>
          </a:p>
        </p:txBody>
      </p:sp>
      <p:sp>
        <p:nvSpPr>
          <p:cNvPr id="3" name="works"/>
          <p:cNvSpPr/>
          <p:nvPr/>
        </p:nvSpPr>
        <p:spPr>
          <a:xfrm>
            <a:off x="548640" y="1325880"/>
            <a:ext cx="5394960" cy="3749040"/>
          </a:xfrm>
          <a:prstGeom prst="roundRect">
            <a:avLst>
              <a:gd name="adj" fmla="val 3659"/>
            </a:avLst>
          </a:prstGeom>
          <a:solidFill>
            <a:schemeClr val="bg2"/>
          </a:solidFill>
          <a:ln w="12700">
            <a:solidFill>
              <a:schemeClr val="bg2"/>
            </a:solidFill>
            <a:prstDash val="solid"/>
          </a:ln>
        </p:spPr>
      </p:sp>
      <p:sp>
        <p:nvSpPr>
          <p:cNvPr id="4" name="icon-circle"/>
          <p:cNvSpPr/>
          <p:nvPr/>
        </p:nvSpPr>
        <p:spPr>
          <a:xfrm>
            <a:off x="822960" y="1554480"/>
            <a:ext cx="594360" cy="594360"/>
          </a:xfrm>
          <a:prstGeom prst="ellipse">
            <a:avLst/>
          </a:prstGeom>
          <a:solidFill>
            <a:srgbClr val="2E9E6B"/>
          </a:solidFill>
          <a:ln w="12700">
            <a:solidFill>
              <a:srgbClr val="2E9E6B"/>
            </a:solidFill>
            <a:prstDash val="solid"/>
          </a:ln>
        </p:spPr>
      </p:sp>
      <p:pic>
        <p:nvPicPr>
          <p:cNvPr id="5" name="icon" descr="preencoded.png">    </p:cNvPr>
          <p:cNvPicPr>
            <a:picLocks noChangeAspect="1"/>
          </p:cNvPicPr>
          <p:nvPr/>
        </p:nvPicPr>
        <p:blipFill>
          <a:blip r:embed="rId1"/>
          <a:stretch>
            <a:fillRect/>
          </a:stretch>
        </p:blipFill>
        <p:spPr>
          <a:xfrm>
            <a:off x="971550" y="1703070"/>
            <a:ext cx="297180" cy="297180"/>
          </a:xfrm>
          <a:prstGeom prst="rect">
            <a:avLst/>
          </a:prstGeom>
        </p:spPr>
      </p:pic>
      <p:sp>
        <p:nvSpPr>
          <p:cNvPr id="6" name="Text 3"/>
          <p:cNvSpPr txBox="1"/>
          <p:nvPr/>
        </p:nvSpPr>
        <p:spPr>
          <a:xfrm>
            <a:off x="1554480" y="1600200"/>
            <a:ext cx="3657600" cy="502920"/>
          </a:xfrm>
          <a:prstGeom prst="rect">
            <a:avLst/>
          </a:prstGeom>
          <a:noFill/>
          <a:ln/>
        </p:spPr>
        <p:txBody>
          <a:bodyPr wrap="square" lIns="0" tIns="0" rIns="0" bIns="0" rtlCol="0" anchor="ctr"/>
          <a:lstStyle/>
          <a:p>
            <a:pPr indent="0" marL="0">
              <a:buNone/>
            </a:pPr>
            <a:r>
              <a:rPr lang="en-US" sz="2200" b="1" dirty="0">
                <a:solidFill>
                  <a:schemeClr val="accent3"/>
                </a:solidFill>
              </a:rPr>
              <a:t>Works</a:t>
            </a:r>
            <a:endParaRPr lang="en-US" sz="2200" dirty="0"/>
          </a:p>
        </p:txBody>
      </p:sp>
      <p:sp>
        <p:nvSpPr>
          <p:cNvPr id="7" name="Text 4"/>
          <p:cNvSpPr txBox="1"/>
          <p:nvPr/>
        </p:nvSpPr>
        <p:spPr>
          <a:xfrm>
            <a:off x="822960" y="2331720"/>
            <a:ext cx="493776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3D city with live İBB speeds, in the browser</a:t>
            </a:r>
            <a:endParaRPr lang="en-US" sz="1600" dirty="0"/>
          </a:p>
          <a:p>
            <a:pPr marL="342900" indent="-342900">
              <a:spcAft>
                <a:spcPts val="1000"/>
              </a:spcAft>
              <a:buSzPct val="100000"/>
              <a:buChar char="•"/>
            </a:pPr>
            <a:r>
              <a:rPr lang="en-US" sz="1600" dirty="0">
                <a:solidFill>
                  <a:schemeClr val="tx1"/>
                </a:solidFill>
              </a:rPr>
              <a:t>Total traffic level set by real counts</a:t>
            </a:r>
            <a:endParaRPr lang="en-US" sz="1600" dirty="0"/>
          </a:p>
          <a:p>
            <a:pPr marL="342900" indent="-342900">
              <a:spcAft>
                <a:spcPts val="1000"/>
              </a:spcAft>
              <a:buSzPct val="100000"/>
              <a:buChar char="•"/>
            </a:pPr>
            <a:r>
              <a:rPr lang="en-US" sz="1600" dirty="0">
                <a:solidFill>
                  <a:schemeClr val="tx1"/>
                </a:solidFill>
              </a:rPr>
              <a:t>Honest checks on hidden counters</a:t>
            </a:r>
            <a:endParaRPr lang="en-US" sz="1600" dirty="0"/>
          </a:p>
          <a:p>
            <a:pPr marL="342900" indent="-342900">
              <a:spcAft>
                <a:spcPts val="1000"/>
              </a:spcAft>
              <a:buSzPct val="100000"/>
              <a:buChar char="•"/>
            </a:pPr>
            <a:r>
              <a:rPr lang="en-US" sz="1600" dirty="0">
                <a:solidFill>
                  <a:schemeClr val="tx1"/>
                </a:solidFill>
              </a:rPr>
              <a:t>“What if” simulator for accidents</a:t>
            </a:r>
            <a:endParaRPr lang="en-US" sz="1600" dirty="0"/>
          </a:p>
          <a:p>
            <a:pPr marL="342900" indent="-342900">
              <a:spcAft>
                <a:spcPts val="1000"/>
              </a:spcAft>
              <a:buSzPct val="100000"/>
              <a:buChar char="•"/>
            </a:pPr>
            <a:r>
              <a:rPr lang="en-US" sz="1600" dirty="0">
                <a:solidFill>
                  <a:schemeClr val="tx1"/>
                </a:solidFill>
              </a:rPr>
              <a:t>Recommendations panel built on real data</a:t>
            </a:r>
            <a:endParaRPr lang="en-US" sz="1600" dirty="0"/>
          </a:p>
        </p:txBody>
      </p:sp>
      <p:sp>
        <p:nvSpPr>
          <p:cNvPr id="8" name="not-yet"/>
          <p:cNvSpPr/>
          <p:nvPr/>
        </p:nvSpPr>
        <p:spPr>
          <a:xfrm>
            <a:off x="6263640" y="1325880"/>
            <a:ext cx="5394960" cy="3749040"/>
          </a:xfrm>
          <a:prstGeom prst="roundRect">
            <a:avLst>
              <a:gd name="adj" fmla="val 3659"/>
            </a:avLst>
          </a:prstGeom>
          <a:solidFill>
            <a:schemeClr val="bg2"/>
          </a:solidFill>
          <a:ln w="12700">
            <a:solidFill>
              <a:schemeClr val="bg2"/>
            </a:solidFill>
            <a:prstDash val="solid"/>
          </a:ln>
        </p:spPr>
      </p:sp>
      <p:sp>
        <p:nvSpPr>
          <p:cNvPr id="9" name="icon-circle"/>
          <p:cNvSpPr/>
          <p:nvPr/>
        </p:nvSpPr>
        <p:spPr>
          <a:xfrm>
            <a:off x="6537960" y="1554480"/>
            <a:ext cx="594360" cy="594360"/>
          </a:xfrm>
          <a:prstGeom prst="ellipse">
            <a:avLst/>
          </a:prstGeom>
          <a:solidFill>
            <a:srgbClr val="E8963D"/>
          </a:solidFill>
          <a:ln w="12700">
            <a:solidFill>
              <a:srgbClr val="E8963D"/>
            </a:solidFill>
            <a:prstDash val="solid"/>
          </a:ln>
        </p:spPr>
      </p:sp>
      <p:pic>
        <p:nvPicPr>
          <p:cNvPr id="10" name="icon" descr="preencoded.png">    </p:cNvPr>
          <p:cNvPicPr>
            <a:picLocks noChangeAspect="1"/>
          </p:cNvPicPr>
          <p:nvPr/>
        </p:nvPicPr>
        <p:blipFill>
          <a:blip r:embed="rId2"/>
          <a:stretch>
            <a:fillRect/>
          </a:stretch>
        </p:blipFill>
        <p:spPr>
          <a:xfrm>
            <a:off x="6686550" y="1703070"/>
            <a:ext cx="297180" cy="297180"/>
          </a:xfrm>
          <a:prstGeom prst="rect">
            <a:avLst/>
          </a:prstGeom>
        </p:spPr>
      </p:pic>
      <p:sp>
        <p:nvSpPr>
          <p:cNvPr id="11" name="Text 7"/>
          <p:cNvSpPr txBox="1"/>
          <p:nvPr/>
        </p:nvSpPr>
        <p:spPr>
          <a:xfrm>
            <a:off x="7269480" y="1600200"/>
            <a:ext cx="3657600" cy="502920"/>
          </a:xfrm>
          <a:prstGeom prst="rect">
            <a:avLst/>
          </a:prstGeom>
          <a:noFill/>
          <a:ln/>
        </p:spPr>
        <p:txBody>
          <a:bodyPr wrap="square" lIns="0" tIns="0" rIns="0" bIns="0" rtlCol="0" anchor="ctr"/>
          <a:lstStyle/>
          <a:p>
            <a:pPr indent="0" marL="0">
              <a:buNone/>
            </a:pPr>
            <a:r>
              <a:rPr lang="en-US" sz="2200" b="1" dirty="0">
                <a:solidFill>
                  <a:schemeClr val="accent1"/>
                </a:solidFill>
              </a:rPr>
              <a:t>Not yet</a:t>
            </a:r>
            <a:endParaRPr lang="en-US" sz="2200" dirty="0"/>
          </a:p>
        </p:txBody>
      </p:sp>
      <p:sp>
        <p:nvSpPr>
          <p:cNvPr id="12" name="Text 8"/>
          <p:cNvSpPr txBox="1"/>
          <p:nvPr/>
        </p:nvSpPr>
        <p:spPr>
          <a:xfrm>
            <a:off x="6537960" y="2331720"/>
            <a:ext cx="4937760" cy="35661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Where the cars go: only 1 counter in 10 predicted well</a:t>
            </a:r>
            <a:endParaRPr lang="en-US" sz="1600" dirty="0"/>
          </a:p>
          <a:p>
            <a:pPr marL="342900" indent="-342900">
              <a:spcAft>
                <a:spcPts val="1000"/>
              </a:spcAft>
              <a:buSzPct val="100000"/>
              <a:buChar char="•"/>
            </a:pPr>
            <a:r>
              <a:rPr lang="en-US" sz="1600" dirty="0">
                <a:solidFill>
                  <a:schemeClr val="tx1"/>
                </a:solidFill>
              </a:rPr>
              <a:t>Some counters may count one direction only: İBB must confirm</a:t>
            </a:r>
            <a:endParaRPr lang="en-US" sz="1600" dirty="0"/>
          </a:p>
          <a:p>
            <a:pPr marL="342900" indent="-342900">
              <a:spcAft>
                <a:spcPts val="1000"/>
              </a:spcAft>
              <a:buSzPct val="100000"/>
              <a:buChar char="•"/>
            </a:pPr>
            <a:r>
              <a:rPr lang="en-US" sz="1600" dirty="0">
                <a:solidFill>
                  <a:schemeClr val="tx1"/>
                </a:solidFill>
              </a:rPr>
              <a:t>Only one hour of one day so far</a:t>
            </a:r>
            <a:endParaRPr lang="en-US" sz="1600" dirty="0"/>
          </a:p>
          <a:p>
            <a:pPr marL="342900" indent="-342900">
              <a:spcAft>
                <a:spcPts val="1000"/>
              </a:spcAft>
              <a:buSzPct val="100000"/>
              <a:buChar char="•"/>
            </a:pPr>
            <a:r>
              <a:rPr lang="en-US" sz="1600" dirty="0">
                <a:solidFill>
                  <a:schemeClr val="tx1"/>
                </a:solidFill>
              </a:rPr>
              <a:t>Fast AI version: first try failed our own check</a:t>
            </a:r>
            <a:endParaRPr lang="en-US" sz="1600" dirty="0"/>
          </a:p>
        </p:txBody>
      </p:sp>
      <p:sp>
        <p:nvSpPr>
          <p:cNvPr id="13" name="Text 9"/>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Next: more days and hours, confirm the counters with İBB, and train the fast AI version on simulator runs.</a:t>
            </a:r>
            <a:endParaRPr lang="en-US" sz="16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lIns="0" tIns="0" rIns="0" bIns="0" rtlCol="0" anchor="ctr"/>
          <a:lstStyle/>
          <a:p>
            <a:pPr indent="0" marL="0">
              <a:buNone/>
            </a:pPr>
            <a:r>
              <a:rPr lang="en-US" sz="3400" b="1" dirty="0">
                <a:solidFill>
                  <a:schemeClr val="tx1"/>
                </a:solidFill>
              </a:rPr>
              <a:t>Try it yourself</a:t>
            </a:r>
            <a:endParaRPr lang="en-US" sz="3400" dirty="0"/>
          </a:p>
        </p:txBody>
      </p:sp>
      <p:sp>
        <p:nvSpPr>
          <p:cNvPr id="3" name="qr-card"/>
          <p:cNvSpPr/>
          <p:nvPr/>
        </p:nvSpPr>
        <p:spPr>
          <a:xfrm>
            <a:off x="1463040" y="1371600"/>
            <a:ext cx="4206240" cy="4572000"/>
          </a:xfrm>
          <a:prstGeom prst="roundRect">
            <a:avLst>
              <a:gd name="adj" fmla="val 3261"/>
            </a:avLst>
          </a:prstGeom>
          <a:solidFill>
            <a:schemeClr val="bg2"/>
          </a:solidFill>
          <a:ln w="12700">
            <a:solidFill>
              <a:schemeClr val="bg2"/>
            </a:solidFill>
            <a:prstDash val="solid"/>
          </a:ln>
        </p:spPr>
      </p:sp>
      <p:pic>
        <p:nvPicPr>
          <p:cNvPr id="4" name="qr" descr="C:\Users\arif.asiroglu\AppData\Local\Temp\claude\C--Users-arif-asiroglu-Traffic-Intelligence\5c2796c9-d62b-4927-99f5-a4916ca8f74d\scratchpad\deck\qr_app.png">    </p:cNvPr>
          <p:cNvPicPr>
            <a:picLocks noChangeAspect="1"/>
          </p:cNvPicPr>
          <p:nvPr/>
        </p:nvPicPr>
        <p:blipFill>
          <a:blip r:embed="rId1"/>
          <a:stretch>
            <a:fillRect/>
          </a:stretch>
        </p:blipFill>
        <p:spPr>
          <a:xfrm>
            <a:off x="2423160" y="1645920"/>
            <a:ext cx="2286000" cy="2286000"/>
          </a:xfrm>
          <a:prstGeom prst="rect">
            <a:avLst/>
          </a:prstGeom>
        </p:spPr>
      </p:pic>
      <p:sp>
        <p:nvSpPr>
          <p:cNvPr id="5" name="Text 2"/>
          <p:cNvSpPr txBox="1"/>
          <p:nvPr/>
        </p:nvSpPr>
        <p:spPr>
          <a:xfrm>
            <a:off x="1737360" y="4160520"/>
            <a:ext cx="3657600" cy="502920"/>
          </a:xfrm>
          <a:prstGeom prst="rect">
            <a:avLst/>
          </a:prstGeom>
          <a:noFill/>
          <a:ln/>
        </p:spPr>
        <p:txBody>
          <a:bodyPr wrap="square" lIns="0" tIns="0" rIns="0" bIns="0" rtlCol="0" anchor="ctr"/>
          <a:lstStyle/>
          <a:p>
            <a:pPr algn="ctr" indent="0" marL="0">
              <a:buNone/>
            </a:pPr>
            <a:r>
              <a:rPr lang="en-US" sz="2000" b="1" dirty="0">
                <a:solidFill>
                  <a:schemeClr val="tx1"/>
                </a:solidFill>
              </a:rPr>
              <a:t>The live 3D twin</a:t>
            </a:r>
            <a:endParaRPr lang="en-US" sz="2000" dirty="0"/>
          </a:p>
        </p:txBody>
      </p:sp>
      <p:sp>
        <p:nvSpPr>
          <p:cNvPr id="6" name="Text 3"/>
          <p:cNvSpPr txBox="1"/>
          <p:nvPr/>
        </p:nvSpPr>
        <p:spPr>
          <a:xfrm>
            <a:off x="1737360" y="4709160"/>
            <a:ext cx="3657600" cy="731520"/>
          </a:xfrm>
          <a:prstGeom prst="rect">
            <a:avLst/>
          </a:prstGeom>
          <a:noFill/>
          <a:ln/>
        </p:spPr>
        <p:txBody>
          <a:bodyPr wrap="square" lIns="0" tIns="0" rIns="0" bIns="0" rtlCol="0" anchor="t"/>
          <a:lstStyle/>
          <a:p>
            <a:pPr algn="ctr" indent="0" marL="0">
              <a:buNone/>
            </a:pPr>
            <a:r>
              <a:rPr lang="en-US" sz="1400" dirty="0">
                <a:solidFill>
                  <a:schemeClr val="accent2"/>
                </a:solidFill>
              </a:rPr>
              <a:t>aaasiroglu.github.io/procedural-istanbul/app</a:t>
            </a:r>
            <a:endParaRPr lang="en-US" sz="1400" dirty="0"/>
          </a:p>
        </p:txBody>
      </p:sp>
      <p:sp>
        <p:nvSpPr>
          <p:cNvPr id="7" name="qr-card"/>
          <p:cNvSpPr/>
          <p:nvPr/>
        </p:nvSpPr>
        <p:spPr>
          <a:xfrm>
            <a:off x="6583680" y="1371600"/>
            <a:ext cx="4206240" cy="4572000"/>
          </a:xfrm>
          <a:prstGeom prst="roundRect">
            <a:avLst>
              <a:gd name="adj" fmla="val 3261"/>
            </a:avLst>
          </a:prstGeom>
          <a:solidFill>
            <a:schemeClr val="bg2"/>
          </a:solidFill>
          <a:ln w="12700">
            <a:solidFill>
              <a:schemeClr val="bg2"/>
            </a:solidFill>
            <a:prstDash val="solid"/>
          </a:ln>
        </p:spPr>
      </p:sp>
      <p:pic>
        <p:nvPicPr>
          <p:cNvPr id="8" name="qr" descr="C:\Users\arif.asiroglu\AppData\Local\Temp\claude\C--Users-arif-asiroglu-Traffic-Intelligence\5c2796c9-d62b-4927-99f5-a4916ca8f74d\scratchpad\deck\qr_site.png">    </p:cNvPr>
          <p:cNvPicPr>
            <a:picLocks noChangeAspect="1"/>
          </p:cNvPicPr>
          <p:nvPr/>
        </p:nvPicPr>
        <p:blipFill>
          <a:blip r:embed="rId2"/>
          <a:stretch>
            <a:fillRect/>
          </a:stretch>
        </p:blipFill>
        <p:spPr>
          <a:xfrm>
            <a:off x="7543800" y="1645920"/>
            <a:ext cx="2286000" cy="2286000"/>
          </a:xfrm>
          <a:prstGeom prst="rect">
            <a:avLst/>
          </a:prstGeom>
        </p:spPr>
      </p:pic>
      <p:sp>
        <p:nvSpPr>
          <p:cNvPr id="9" name="Text 5"/>
          <p:cNvSpPr txBox="1"/>
          <p:nvPr/>
        </p:nvSpPr>
        <p:spPr>
          <a:xfrm>
            <a:off x="6858000" y="4160520"/>
            <a:ext cx="3657600" cy="502920"/>
          </a:xfrm>
          <a:prstGeom prst="rect">
            <a:avLst/>
          </a:prstGeom>
          <a:noFill/>
          <a:ln/>
        </p:spPr>
        <p:txBody>
          <a:bodyPr wrap="square" lIns="0" tIns="0" rIns="0" bIns="0" rtlCol="0" anchor="ctr"/>
          <a:lstStyle/>
          <a:p>
            <a:pPr algn="ctr" indent="0" marL="0">
              <a:buNone/>
            </a:pPr>
            <a:r>
              <a:rPr lang="en-US" sz="2000" b="1" dirty="0">
                <a:solidFill>
                  <a:schemeClr val="tx1"/>
                </a:solidFill>
              </a:rPr>
              <a:t>Project site, report and slides</a:t>
            </a:r>
            <a:endParaRPr lang="en-US" sz="2000" dirty="0"/>
          </a:p>
        </p:txBody>
      </p:sp>
      <p:sp>
        <p:nvSpPr>
          <p:cNvPr id="10" name="Text 6"/>
          <p:cNvSpPr txBox="1"/>
          <p:nvPr/>
        </p:nvSpPr>
        <p:spPr>
          <a:xfrm>
            <a:off x="6858000" y="4709160"/>
            <a:ext cx="3657600" cy="731520"/>
          </a:xfrm>
          <a:prstGeom prst="rect">
            <a:avLst/>
          </a:prstGeom>
          <a:noFill/>
          <a:ln/>
        </p:spPr>
        <p:txBody>
          <a:bodyPr wrap="square" lIns="0" tIns="0" rIns="0" bIns="0" rtlCol="0" anchor="t"/>
          <a:lstStyle/>
          <a:p>
            <a:pPr algn="ctr" indent="0" marL="0">
              <a:buNone/>
            </a:pPr>
            <a:r>
              <a:rPr lang="en-US" sz="1400" dirty="0">
                <a:solidFill>
                  <a:schemeClr val="accent2"/>
                </a:solidFill>
              </a:rPr>
              <a:t>aaasiroglu.github.io/procedural-istanbul</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4A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011680"/>
            <a:ext cx="10972800" cy="1188720"/>
          </a:xfrm>
          <a:prstGeom prst="rect">
            <a:avLst/>
          </a:prstGeom>
          <a:noFill/>
          <a:ln/>
        </p:spPr>
        <p:txBody>
          <a:bodyPr wrap="square" lIns="0" tIns="0" rIns="0" bIns="0" rtlCol="0" anchor="ctr"/>
          <a:lstStyle/>
          <a:p>
            <a:pPr indent="0" marL="0">
              <a:buNone/>
            </a:pPr>
            <a:r>
              <a:rPr lang="en-US" sz="6000" b="1" dirty="0">
                <a:solidFill>
                  <a:srgbClr val="FFFFFF"/>
                </a:solidFill>
              </a:rPr>
              <a:t>Thank you</a:t>
            </a:r>
            <a:endParaRPr lang="en-US" sz="6000" dirty="0"/>
          </a:p>
        </p:txBody>
      </p:sp>
      <p:sp>
        <p:nvSpPr>
          <p:cNvPr id="3" name="Text 1"/>
          <p:cNvSpPr txBox="1"/>
          <p:nvPr/>
        </p:nvSpPr>
        <p:spPr>
          <a:xfrm>
            <a:off x="548640" y="3200400"/>
            <a:ext cx="10972800" cy="731520"/>
          </a:xfrm>
          <a:prstGeom prst="rect">
            <a:avLst/>
          </a:prstGeom>
          <a:noFill/>
          <a:ln/>
        </p:spPr>
        <p:txBody>
          <a:bodyPr wrap="square" lIns="0" tIns="0" rIns="0" bIns="0" rtlCol="0" anchor="ctr"/>
          <a:lstStyle/>
          <a:p>
            <a:pPr indent="0" marL="0">
              <a:buNone/>
            </a:pPr>
            <a:r>
              <a:rPr lang="en-US" sz="3200" dirty="0">
                <a:solidFill>
                  <a:srgbClr val="E8963D"/>
                </a:solidFill>
              </a:rPr>
              <a:t>Questions?</a:t>
            </a:r>
            <a:endParaRPr lang="en-US" sz="3200" dirty="0"/>
          </a:p>
        </p:txBody>
      </p:sp>
      <p:sp>
        <p:nvSpPr>
          <p:cNvPr id="4" name="Text 2"/>
          <p:cNvSpPr txBox="1"/>
          <p:nvPr/>
        </p:nvSpPr>
        <p:spPr>
          <a:xfrm>
            <a:off x="548640" y="4572000"/>
            <a:ext cx="10515600" cy="822960"/>
          </a:xfrm>
          <a:prstGeom prst="rect">
            <a:avLst/>
          </a:prstGeom>
          <a:noFill/>
          <a:ln/>
        </p:spPr>
        <p:txBody>
          <a:bodyPr wrap="square" lIns="0" tIns="0" rIns="0" bIns="0" rtlCol="0" anchor="ctr"/>
          <a:lstStyle/>
          <a:p>
            <a:pPr indent="0" marL="0">
              <a:buNone/>
            </a:pPr>
            <a:r>
              <a:rPr lang="en-US" sz="2000" i="1" dirty="0">
                <a:solidFill>
                  <a:srgbClr val="D6E2F0"/>
                </a:solidFill>
              </a:rPr>
              <a:t>One idea to remember: a speed tells you “at most” or “at least”, never an exact number of cars.</a:t>
            </a:r>
            <a:endParaRPr lang="en-US" sz="2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3BF"/>
                </a:solidFill>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osphorus Dusk">
  <a:themeElements>
    <a:clrScheme name="Bosphorus Dusk">
      <a:dk1>
        <a:srgbClr val="14213D"/>
      </a:dk1>
      <a:lt1>
        <a:srgbClr val="FFFFFF"/>
      </a:lt1>
      <a:dk2>
        <a:srgbClr val="0B3C5D"/>
      </a:dk2>
      <a:lt2>
        <a:srgbClr val="EEF3F8"/>
      </a:lt2>
      <a:accent1>
        <a:srgbClr val="E8963D"/>
      </a:accent1>
      <a:accent2>
        <a:srgbClr val="1F7A8C"/>
      </a:accent2>
      <a:accent3>
        <a:srgbClr val="2E9E6B"/>
      </a:accent3>
      <a:accent4>
        <a:srgbClr val="D9534F"/>
      </a:accent4>
      <a:accent5>
        <a:srgbClr val="8A94A6"/>
      </a:accent5>
      <a:accent6>
        <a:srgbClr val="F2C14E"/>
      </a:accent6>
      <a:hlink>
        <a:srgbClr val="1F7A8C"/>
      </a:hlink>
      <a:folHlink>
        <a:srgbClr val="0B3C5D"/>
      </a:folHlink>
    </a:clrScheme>
    <a:fontScheme name="Bosphorus Dusk">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Procedural Istanbul: reading a city's traffic from road speeds</dc:title>
  <dc:subject>PptxGenJS Presentation</dc:subject>
  <dc:creator>Abdurrahim Arif Aşıroğlu</dc:creator>
  <cp:lastModifiedBy>Abdurrahim Arif Aşıroğlu</cp:lastModifiedBy>
  <cp:revision>1</cp:revision>
  <dcterms:created xsi:type="dcterms:W3CDTF">2026-10-20T07:06:46Z</dcterms:created>
  <dcterms:modified xsi:type="dcterms:W3CDTF">2026-10-20T07:06:46Z</dcterms:modified>
</cp:coreProperties>
</file>